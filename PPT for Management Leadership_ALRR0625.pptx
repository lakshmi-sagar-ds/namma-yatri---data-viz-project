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70" r:id="rId11"/>
    <p:sldId id="27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DF"/>
    <a:srgbClr val="D82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5956732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65956732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6e54ebd5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66e54ebd5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A42183-24F7-21CA-68EB-3F3A7969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BF38BFCF-DA8F-82CB-6F5C-FF66183EC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C7AFDE48-57B3-010A-B09D-3DCD288A3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276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86BCF33-FA6A-AA90-39E1-D9D04B026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226AA8FE-54A8-4127-777B-1164ACAD5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877EF6C6-407D-EBAC-8799-DBB32B2B1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9612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6pPr>
            <a:lvl7pPr marL="3200400" lvl="6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7pPr>
            <a:lvl8pPr marL="3657600" lvl="7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8pPr>
            <a:lvl9pPr marL="4114800" lvl="8" indent="-33655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Char char="▪"/>
              <a:defRPr sz="20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4" name="Google Shape;74;p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endParaRPr sz="20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1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1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endParaRPr sz="20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sz="5400" b="0" i="0" u="none" strike="noStrike" cap="non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1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endParaRPr sz="20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ockwel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68D4-9CF2-7575-7E1B-4CC85672DF74}"/>
              </a:ext>
            </a:extLst>
          </p:cNvPr>
          <p:cNvSpPr txBox="1">
            <a:spLocks/>
          </p:cNvSpPr>
          <p:nvPr/>
        </p:nvSpPr>
        <p:spPr>
          <a:xfrm>
            <a:off x="1029872" y="2649729"/>
            <a:ext cx="10132255" cy="30358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sz="4800" i="1" dirty="0">
                <a:solidFill>
                  <a:srgbClr val="D82042"/>
                </a:solidFill>
                <a:latin typeface="Calibri"/>
                <a:ea typeface="Calibri"/>
                <a:cs typeface="Calibri"/>
                <a:sym typeface="Calibri"/>
              </a:rPr>
              <a:t>Optimizing Marketing Strategies – Improving Operational Efficiency and Revenue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07C6C-9625-EE5B-BBD6-641842751917}"/>
              </a:ext>
            </a:extLst>
          </p:cNvPr>
          <p:cNvSpPr txBox="1">
            <a:spLocks/>
          </p:cNvSpPr>
          <p:nvPr/>
        </p:nvSpPr>
        <p:spPr>
          <a:xfrm>
            <a:off x="4053193" y="6199448"/>
            <a:ext cx="7353716" cy="106984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u="sng" dirty="0"/>
              <a:t>Case Study Group</a:t>
            </a:r>
            <a:r>
              <a:rPr lang="en-US" dirty="0"/>
              <a:t>: Ankit Mathur, Lakshmi Sagar, Rakesh Kumar Sahoo, Rohit Vashishth</a:t>
            </a:r>
          </a:p>
          <a:p>
            <a:r>
              <a:rPr lang="en-US" b="1" u="sng" dirty="0"/>
              <a:t>Group Name</a:t>
            </a:r>
            <a:r>
              <a:rPr lang="en-US" dirty="0"/>
              <a:t>: ALRR0625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072BB-CC28-4250-CC6D-013B3070F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159" y="263825"/>
            <a:ext cx="2459183" cy="245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4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14"/>
          <p:cNvSpPr txBox="1"/>
          <p:nvPr/>
        </p:nvSpPr>
        <p:spPr>
          <a:xfrm>
            <a:off x="165253" y="176270"/>
            <a:ext cx="55304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Agenda</a:t>
            </a:r>
            <a:endParaRPr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B9C6C0-5343-0CF0-A825-00D42133E908}"/>
              </a:ext>
            </a:extLst>
          </p:cNvPr>
          <p:cNvGrpSpPr/>
          <p:nvPr/>
        </p:nvGrpSpPr>
        <p:grpSpPr>
          <a:xfrm>
            <a:off x="1995470" y="1357837"/>
            <a:ext cx="8201060" cy="4142326"/>
            <a:chOff x="1958887" y="1345963"/>
            <a:chExt cx="8201060" cy="4142326"/>
          </a:xfrm>
        </p:grpSpPr>
        <p:sp>
          <p:nvSpPr>
            <p:cNvPr id="112" name="Google Shape;112;p14"/>
            <p:cNvSpPr/>
            <p:nvPr/>
          </p:nvSpPr>
          <p:spPr>
            <a:xfrm>
              <a:off x="1961001" y="1345963"/>
              <a:ext cx="475200" cy="47520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1961001" y="2088611"/>
              <a:ext cx="475200" cy="47520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1961001" y="2833168"/>
              <a:ext cx="475200" cy="47520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1961001" y="3578258"/>
              <a:ext cx="475200" cy="47520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961001" y="4322282"/>
              <a:ext cx="475200" cy="47520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4937893" y="1401048"/>
              <a:ext cx="21152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AB1842"/>
                  </a:solidFill>
                  <a:latin typeface="Rockwell"/>
                  <a:ea typeface="Rockwell"/>
                  <a:cs typeface="Rockwell"/>
                  <a:sym typeface="Rockwell"/>
                </a:rPr>
                <a:t>Objective &amp; Goals</a:t>
              </a:r>
              <a:endParaRPr/>
            </a:p>
          </p:txBody>
        </p:sp>
        <p:cxnSp>
          <p:nvCxnSpPr>
            <p:cNvPr id="120" name="Google Shape;120;p14"/>
            <p:cNvCxnSpPr>
              <a:stCxn id="112" idx="6"/>
              <a:endCxn id="119" idx="1"/>
            </p:cNvCxnSpPr>
            <p:nvPr/>
          </p:nvCxnSpPr>
          <p:spPr>
            <a:xfrm>
              <a:off x="2436201" y="1583563"/>
              <a:ext cx="2501692" cy="2151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14"/>
            <p:cNvCxnSpPr>
              <a:cxnSpLocks/>
              <a:stCxn id="119" idx="3"/>
            </p:cNvCxnSpPr>
            <p:nvPr/>
          </p:nvCxnSpPr>
          <p:spPr>
            <a:xfrm>
              <a:off x="7053132" y="1585714"/>
              <a:ext cx="3106815" cy="0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22" name="Google Shape;122;p14"/>
            <p:cNvSpPr txBox="1"/>
            <p:nvPr/>
          </p:nvSpPr>
          <p:spPr>
            <a:xfrm>
              <a:off x="5428144" y="2139938"/>
              <a:ext cx="11347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AB1842"/>
                  </a:solidFill>
                  <a:latin typeface="Rockwell"/>
                  <a:ea typeface="Rockwell"/>
                  <a:cs typeface="Rockwell"/>
                  <a:sym typeface="Rockwell"/>
                </a:rPr>
                <a:t>Findings</a:t>
              </a:r>
              <a:endParaRPr/>
            </a:p>
          </p:txBody>
        </p:sp>
        <p:cxnSp>
          <p:nvCxnSpPr>
            <p:cNvPr id="123" name="Google Shape;123;p14"/>
            <p:cNvCxnSpPr>
              <a:cxnSpLocks/>
              <a:stCxn id="113" idx="6"/>
              <a:endCxn id="122" idx="1"/>
            </p:cNvCxnSpPr>
            <p:nvPr/>
          </p:nvCxnSpPr>
          <p:spPr>
            <a:xfrm flipV="1">
              <a:off x="2436201" y="2324604"/>
              <a:ext cx="2991943" cy="1607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14"/>
            <p:cNvCxnSpPr>
              <a:cxnSpLocks/>
              <a:stCxn id="122" idx="3"/>
            </p:cNvCxnSpPr>
            <p:nvPr/>
          </p:nvCxnSpPr>
          <p:spPr>
            <a:xfrm>
              <a:off x="6562880" y="2324604"/>
              <a:ext cx="3597067" cy="0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25" name="Google Shape;125;p14"/>
            <p:cNvSpPr txBox="1"/>
            <p:nvPr/>
          </p:nvSpPr>
          <p:spPr>
            <a:xfrm>
              <a:off x="5214197" y="2885325"/>
              <a:ext cx="149836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AB1842"/>
                  </a:solidFill>
                  <a:latin typeface="Rockwell"/>
                  <a:ea typeface="Rockwell"/>
                  <a:cs typeface="Rockwell"/>
                  <a:sym typeface="Rockwell"/>
                </a:rPr>
                <a:t>Background</a:t>
              </a:r>
              <a:endParaRPr dirty="0"/>
            </a:p>
          </p:txBody>
        </p:sp>
        <p:cxnSp>
          <p:nvCxnSpPr>
            <p:cNvPr id="126" name="Google Shape;126;p14"/>
            <p:cNvCxnSpPr>
              <a:cxnSpLocks/>
              <a:stCxn id="114" idx="6"/>
              <a:endCxn id="125" idx="1"/>
            </p:cNvCxnSpPr>
            <p:nvPr/>
          </p:nvCxnSpPr>
          <p:spPr>
            <a:xfrm flipV="1">
              <a:off x="2436201" y="3069971"/>
              <a:ext cx="2777996" cy="797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14"/>
            <p:cNvCxnSpPr>
              <a:cxnSpLocks/>
              <a:stCxn id="125" idx="3"/>
            </p:cNvCxnSpPr>
            <p:nvPr/>
          </p:nvCxnSpPr>
          <p:spPr>
            <a:xfrm>
              <a:off x="6712561" y="3069971"/>
              <a:ext cx="3447386" cy="0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28" name="Google Shape;128;p14"/>
            <p:cNvSpPr txBox="1"/>
            <p:nvPr/>
          </p:nvSpPr>
          <p:spPr>
            <a:xfrm>
              <a:off x="4224436" y="3630675"/>
              <a:ext cx="3542152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AB1842"/>
                  </a:solidFill>
                  <a:latin typeface="Rockwell"/>
                  <a:ea typeface="Rockwell"/>
                  <a:cs typeface="Rockwell"/>
                  <a:sym typeface="Rockwell"/>
                </a:rPr>
                <a:t>Insights and Recommendations</a:t>
              </a:r>
              <a:endParaRPr dirty="0"/>
            </a:p>
          </p:txBody>
        </p:sp>
        <p:cxnSp>
          <p:nvCxnSpPr>
            <p:cNvPr id="129" name="Google Shape;129;p14"/>
            <p:cNvCxnSpPr>
              <a:cxnSpLocks/>
              <a:stCxn id="115" idx="6"/>
              <a:endCxn id="128" idx="1"/>
            </p:cNvCxnSpPr>
            <p:nvPr/>
          </p:nvCxnSpPr>
          <p:spPr>
            <a:xfrm flipV="1">
              <a:off x="2436201" y="3815325"/>
              <a:ext cx="1788235" cy="533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14"/>
            <p:cNvCxnSpPr>
              <a:cxnSpLocks/>
              <a:stCxn id="128" idx="3"/>
            </p:cNvCxnSpPr>
            <p:nvPr/>
          </p:nvCxnSpPr>
          <p:spPr>
            <a:xfrm>
              <a:off x="7766588" y="3815325"/>
              <a:ext cx="2393359" cy="0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31" name="Google Shape;131;p14"/>
            <p:cNvSpPr txBox="1"/>
            <p:nvPr/>
          </p:nvSpPr>
          <p:spPr>
            <a:xfrm>
              <a:off x="4888923" y="4375499"/>
              <a:ext cx="216421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AB1842"/>
                  </a:solidFill>
                  <a:latin typeface="Rockwell"/>
                  <a:ea typeface="Rockwell"/>
                  <a:cs typeface="Rockwell"/>
                  <a:sym typeface="Rockwell"/>
                </a:rPr>
                <a:t>Recommendations</a:t>
              </a:r>
              <a:endParaRPr dirty="0"/>
            </a:p>
          </p:txBody>
        </p:sp>
        <p:cxnSp>
          <p:nvCxnSpPr>
            <p:cNvPr id="132" name="Google Shape;132;p14"/>
            <p:cNvCxnSpPr>
              <a:cxnSpLocks/>
              <a:stCxn id="116" idx="6"/>
              <a:endCxn id="131" idx="1"/>
            </p:cNvCxnSpPr>
            <p:nvPr/>
          </p:nvCxnSpPr>
          <p:spPr>
            <a:xfrm>
              <a:off x="2436201" y="4559882"/>
              <a:ext cx="2452722" cy="263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14"/>
            <p:cNvCxnSpPr>
              <a:cxnSpLocks/>
              <a:stCxn id="131" idx="3"/>
            </p:cNvCxnSpPr>
            <p:nvPr/>
          </p:nvCxnSpPr>
          <p:spPr>
            <a:xfrm>
              <a:off x="7053133" y="4560145"/>
              <a:ext cx="3106814" cy="533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7" name="Google Shape;116;p14">
              <a:extLst>
                <a:ext uri="{FF2B5EF4-FFF2-40B4-BE49-F238E27FC236}">
                  <a16:creationId xmlns:a16="http://schemas.microsoft.com/office/drawing/2014/main" id="{DF1326A8-EBC6-E22D-EE58-A23ABA51D153}"/>
                </a:ext>
              </a:extLst>
            </p:cNvPr>
            <p:cNvSpPr/>
            <p:nvPr/>
          </p:nvSpPr>
          <p:spPr>
            <a:xfrm>
              <a:off x="1958887" y="5013089"/>
              <a:ext cx="475200" cy="47520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60000" sy="58999" flip="none" algn="tl"/>
            </a:blipFill>
            <a:ln>
              <a:noFill/>
            </a:ln>
            <a:effectLst>
              <a:outerShdw blurRad="50800" dist="19050" dir="5400000" algn="t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lt1"/>
                  </a:solidFill>
                  <a:latin typeface="Rockwell"/>
                  <a:sym typeface="Rockwell"/>
                </a:rPr>
                <a:t>6</a:t>
              </a:r>
              <a:endParaRPr dirty="0"/>
            </a:p>
          </p:txBody>
        </p:sp>
        <p:sp>
          <p:nvSpPr>
            <p:cNvPr id="28" name="Google Shape;131;p14">
              <a:extLst>
                <a:ext uri="{FF2B5EF4-FFF2-40B4-BE49-F238E27FC236}">
                  <a16:creationId xmlns:a16="http://schemas.microsoft.com/office/drawing/2014/main" id="{0DB54E15-80B6-EE0F-5CF5-0593ADFB8198}"/>
                </a:ext>
              </a:extLst>
            </p:cNvPr>
            <p:cNvSpPr txBox="1"/>
            <p:nvPr/>
          </p:nvSpPr>
          <p:spPr>
            <a:xfrm>
              <a:off x="5366198" y="5066306"/>
              <a:ext cx="1258628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AB1842"/>
                  </a:solidFill>
                  <a:latin typeface="Rockwell"/>
                  <a:ea typeface="Rockwell"/>
                  <a:cs typeface="Rockwell"/>
                  <a:sym typeface="Rockwell"/>
                </a:rPr>
                <a:t>Appendix</a:t>
              </a:r>
              <a:endParaRPr dirty="0"/>
            </a:p>
          </p:txBody>
        </p:sp>
        <p:cxnSp>
          <p:nvCxnSpPr>
            <p:cNvPr id="29" name="Google Shape;132;p14">
              <a:extLst>
                <a:ext uri="{FF2B5EF4-FFF2-40B4-BE49-F238E27FC236}">
                  <a16:creationId xmlns:a16="http://schemas.microsoft.com/office/drawing/2014/main" id="{5539E11C-EEFD-B6DA-EF45-FF6B51D48EC4}"/>
                </a:ext>
              </a:extLst>
            </p:cNvPr>
            <p:cNvCxnSpPr>
              <a:cxnSpLocks/>
              <a:stCxn id="27" idx="6"/>
              <a:endCxn id="28" idx="1"/>
            </p:cNvCxnSpPr>
            <p:nvPr/>
          </p:nvCxnSpPr>
          <p:spPr>
            <a:xfrm>
              <a:off x="2434087" y="5250689"/>
              <a:ext cx="2932111" cy="263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133;p14">
              <a:extLst>
                <a:ext uri="{FF2B5EF4-FFF2-40B4-BE49-F238E27FC236}">
                  <a16:creationId xmlns:a16="http://schemas.microsoft.com/office/drawing/2014/main" id="{A6152EF4-C3D5-F8C6-9A10-153894F3B92B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6624826" y="5250952"/>
              <a:ext cx="3533007" cy="533"/>
            </a:xfrm>
            <a:prstGeom prst="straightConnector1">
              <a:avLst/>
            </a:prstGeom>
            <a:noFill/>
            <a:ln w="19050" cap="flat" cmpd="sng">
              <a:solidFill>
                <a:srgbClr val="AB184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15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5"/>
          <p:cNvSpPr txBox="1"/>
          <p:nvPr/>
        </p:nvSpPr>
        <p:spPr>
          <a:xfrm>
            <a:off x="165253" y="176270"/>
            <a:ext cx="55304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Overview &amp; Objectives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705079" y="1520328"/>
            <a:ext cx="22254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Business Overview</a:t>
            </a:r>
            <a:endParaRPr/>
          </a:p>
        </p:txBody>
      </p:sp>
      <p:cxnSp>
        <p:nvCxnSpPr>
          <p:cNvPr id="147" name="Google Shape;147;p15"/>
          <p:cNvCxnSpPr/>
          <p:nvPr/>
        </p:nvCxnSpPr>
        <p:spPr>
          <a:xfrm>
            <a:off x="782197" y="1889660"/>
            <a:ext cx="221439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5"/>
          <p:cNvSpPr txBox="1"/>
          <p:nvPr/>
        </p:nvSpPr>
        <p:spPr>
          <a:xfrm>
            <a:off x="694063" y="3780941"/>
            <a:ext cx="22254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Objectives</a:t>
            </a:r>
            <a:endParaRPr/>
          </a:p>
        </p:txBody>
      </p:sp>
      <p:cxnSp>
        <p:nvCxnSpPr>
          <p:cNvPr id="149" name="Google Shape;149;p15"/>
          <p:cNvCxnSpPr/>
          <p:nvPr/>
        </p:nvCxnSpPr>
        <p:spPr>
          <a:xfrm>
            <a:off x="771181" y="4150273"/>
            <a:ext cx="221439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15"/>
          <p:cNvSpPr txBox="1"/>
          <p:nvPr/>
        </p:nvSpPr>
        <p:spPr>
          <a:xfrm>
            <a:off x="716095" y="2016087"/>
            <a:ext cx="1095076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Namma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Yatri plays a pivotal role in Bengaluru’s urban transport network. Operating in a dynamic environment, the company must continuously adapt to shifting demand patterns, optimize ride allocation, and maintain profitability — all while delivering a superior customer experience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To support this, </a:t>
            </a:r>
            <a:r>
              <a:rPr lang="en-US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Namma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Yatri aims to deepen its understanding of ride patterns, customer behavior, and operational bottlenecks.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705079" y="4228042"/>
            <a:ext cx="10950766" cy="1762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objective is to uncover insights that can guide decisions to improve service efficiency, maximize revenue, and enhance customer satisfaction through: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Identifying peak demand patterns and trends</a:t>
            </a:r>
            <a:endParaRPr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Uncovering factors influencing cancellations and driver performance</a:t>
            </a:r>
            <a:endParaRPr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Optimizing payment methods and trip durations</a:t>
            </a:r>
            <a:endParaRPr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Improving resource allocation and marketing strategies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16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16"/>
          <p:cNvSpPr txBox="1"/>
          <p:nvPr/>
        </p:nvSpPr>
        <p:spPr>
          <a:xfrm>
            <a:off x="165253" y="176270"/>
            <a:ext cx="683045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Background – Initial observations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09601" y="2100888"/>
            <a:ext cx="22254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Background</a:t>
            </a:r>
            <a:endParaRPr/>
          </a:p>
        </p:txBody>
      </p:sp>
      <p:cxnSp>
        <p:nvCxnSpPr>
          <p:cNvPr id="159" name="Google Shape;159;p16"/>
          <p:cNvCxnSpPr/>
          <p:nvPr/>
        </p:nvCxnSpPr>
        <p:spPr>
          <a:xfrm>
            <a:off x="686719" y="2470220"/>
            <a:ext cx="221439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16"/>
          <p:cNvSpPr txBox="1"/>
          <p:nvPr/>
        </p:nvSpPr>
        <p:spPr>
          <a:xfrm>
            <a:off x="620617" y="2547989"/>
            <a:ext cx="1095076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Peak demand patterns and trends – Afternoon and Forenoon</a:t>
            </a:r>
            <a:endParaRPr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Cancellation rate stands at 23%</a:t>
            </a:r>
            <a:endParaRPr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Driver performance – 88%</a:t>
            </a:r>
            <a:endParaRPr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Payment method – Digital payments 74%</a:t>
            </a:r>
            <a:endParaRPr dirty="0"/>
          </a:p>
          <a:p>
            <a:pPr marL="285750" indent="-285750">
              <a:spcBef>
                <a:spcPts val="300"/>
              </a:spcBef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Low Conversion rate – 45%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7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17"/>
          <p:cNvSpPr txBox="1"/>
          <p:nvPr/>
        </p:nvSpPr>
        <p:spPr>
          <a:xfrm>
            <a:off x="165252" y="176270"/>
            <a:ext cx="11699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42% of revenue is generated during business hours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38925" y="1913675"/>
            <a:ext cx="6270732" cy="9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Maximum trips &amp; revenue are between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7 AM to 5 PM</a:t>
            </a:r>
            <a:endParaRPr b="1"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Time slot Midnight to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AM 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has the highest hourly revenue –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45K</a:t>
            </a:r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Bottom 5 pickup zones contribute only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9.3% (69.5K)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total revenue</a:t>
            </a:r>
            <a:endParaRPr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213910" y="1423350"/>
            <a:ext cx="222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Insights</a:t>
            </a:r>
            <a:endParaRPr/>
          </a:p>
        </p:txBody>
      </p:sp>
      <p:cxnSp>
        <p:nvCxnSpPr>
          <p:cNvPr id="170" name="Google Shape;170;p17"/>
          <p:cNvCxnSpPr/>
          <p:nvPr/>
        </p:nvCxnSpPr>
        <p:spPr>
          <a:xfrm>
            <a:off x="280011" y="1792682"/>
            <a:ext cx="22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9AB100A-BA9D-44C6-587D-F67DE336EA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7" t="1638" r="1727" b="2885"/>
          <a:stretch/>
        </p:blipFill>
        <p:spPr>
          <a:xfrm>
            <a:off x="6908800" y="1070430"/>
            <a:ext cx="4956366" cy="2325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8AD91E-1D8B-C5E4-9300-AE0BFABE3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" t="1998" r="341" b="1397"/>
          <a:stretch/>
        </p:blipFill>
        <p:spPr>
          <a:xfrm>
            <a:off x="335280" y="3622767"/>
            <a:ext cx="1157804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18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18"/>
          <p:cNvSpPr txBox="1"/>
          <p:nvPr/>
        </p:nvSpPr>
        <p:spPr>
          <a:xfrm>
            <a:off x="165252" y="176270"/>
            <a:ext cx="116999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33% of our drivers are performing below average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39953" y="1452971"/>
            <a:ext cx="41028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Average Revenue per driver –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3.3% (25K)</a:t>
            </a:r>
            <a:endParaRPr b="1"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Drivers below average revenue –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33% (10)</a:t>
            </a:r>
            <a:endParaRPr b="1"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Top 3 drivers – 12, 8 and 21</a:t>
            </a:r>
            <a:endParaRPr dirty="0"/>
          </a:p>
          <a:p>
            <a:pPr marL="285750" marR="0" lvl="0" indent="-285750" algn="l" rtl="0">
              <a:spcBef>
                <a:spcPts val="300"/>
              </a:spcBef>
              <a:spcAft>
                <a:spcPts val="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Bottom 3 drivers – 18, 23 and 11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609601" y="988184"/>
            <a:ext cx="22254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Insights</a:t>
            </a:r>
            <a:endParaRPr/>
          </a:p>
        </p:txBody>
      </p:sp>
      <p:cxnSp>
        <p:nvCxnSpPr>
          <p:cNvPr id="183" name="Google Shape;183;p18"/>
          <p:cNvCxnSpPr/>
          <p:nvPr/>
        </p:nvCxnSpPr>
        <p:spPr>
          <a:xfrm>
            <a:off x="686719" y="1357516"/>
            <a:ext cx="221439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4FC0262-E32B-A7FF-6469-AA07BCF55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" t="1558" r="318" b="1122"/>
          <a:stretch/>
        </p:blipFill>
        <p:spPr>
          <a:xfrm>
            <a:off x="574766" y="3156857"/>
            <a:ext cx="10955384" cy="2952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19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19"/>
          <p:cNvSpPr txBox="1"/>
          <p:nvPr/>
        </p:nvSpPr>
        <p:spPr>
          <a:xfrm>
            <a:off x="-9313" y="176270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Nearly half of the locations exceed the average cancellation rate</a:t>
            </a:r>
            <a:endParaRPr lang="en-US" dirty="0"/>
          </a:p>
        </p:txBody>
      </p:sp>
      <p:sp>
        <p:nvSpPr>
          <p:cNvPr id="2" name="Google Shape;182;p18">
            <a:extLst>
              <a:ext uri="{FF2B5EF4-FFF2-40B4-BE49-F238E27FC236}">
                <a16:creationId xmlns:a16="http://schemas.microsoft.com/office/drawing/2014/main" id="{60B9D216-EACF-AFDC-78B3-21331BE8F249}"/>
              </a:ext>
            </a:extLst>
          </p:cNvPr>
          <p:cNvSpPr txBox="1"/>
          <p:nvPr/>
        </p:nvSpPr>
        <p:spPr>
          <a:xfrm>
            <a:off x="218903" y="988184"/>
            <a:ext cx="22254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Insights</a:t>
            </a:r>
            <a:endParaRPr/>
          </a:p>
        </p:txBody>
      </p:sp>
      <p:cxnSp>
        <p:nvCxnSpPr>
          <p:cNvPr id="3" name="Google Shape;183;p18">
            <a:extLst>
              <a:ext uri="{FF2B5EF4-FFF2-40B4-BE49-F238E27FC236}">
                <a16:creationId xmlns:a16="http://schemas.microsoft.com/office/drawing/2014/main" id="{F6E56A78-8727-CFBD-2E18-96122B59009F}"/>
              </a:ext>
            </a:extLst>
          </p:cNvPr>
          <p:cNvCxnSpPr/>
          <p:nvPr/>
        </p:nvCxnSpPr>
        <p:spPr>
          <a:xfrm>
            <a:off x="296021" y="1357516"/>
            <a:ext cx="2214391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AB791A6-E75F-8C41-FB5B-7C740E5C4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15" y="922914"/>
            <a:ext cx="4870676" cy="5869591"/>
          </a:xfrm>
          <a:prstGeom prst="rect">
            <a:avLst/>
          </a:prstGeom>
        </p:spPr>
      </p:pic>
      <p:sp>
        <p:nvSpPr>
          <p:cNvPr id="10" name="Google Shape;160;p16">
            <a:extLst>
              <a:ext uri="{FF2B5EF4-FFF2-40B4-BE49-F238E27FC236}">
                <a16:creationId xmlns:a16="http://schemas.microsoft.com/office/drawing/2014/main" id="{0578883A-43A2-8F7F-3FC4-1ED2DCF2D8B5}"/>
              </a:ext>
            </a:extLst>
          </p:cNvPr>
          <p:cNvSpPr txBox="1"/>
          <p:nvPr/>
        </p:nvSpPr>
        <p:spPr>
          <a:xfrm>
            <a:off x="218903" y="1464350"/>
            <a:ext cx="5824919" cy="282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rgbClr val="AB1842"/>
              </a:buClr>
              <a:buSzPts val="1360"/>
            </a:pP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46% (17)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locations have cancellation rate above average </a:t>
            </a:r>
            <a:r>
              <a:rPr lang="en-US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(23%)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Following locations show a trend of low Driver performance (more cancellations from Drivers) because of low Fair per KM </a:t>
            </a:r>
            <a:r>
              <a:rPr lang="en-US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w.r.t.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high distance:</a:t>
            </a:r>
          </a:p>
          <a:p>
            <a:pPr marL="449263" lvl="3" indent="-285750">
              <a:spcAft>
                <a:spcPts val="30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Anekal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42.4%</a:t>
            </a:r>
          </a:p>
          <a:p>
            <a:pPr marL="449263" lvl="3" indent="-285750">
              <a:spcAft>
                <a:spcPts val="30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 V Raman Nagar – 38.2%</a:t>
            </a:r>
          </a:p>
          <a:p>
            <a:pPr marL="449263" lvl="3" indent="-285750">
              <a:spcAft>
                <a:spcPts val="30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Yelahanka – 32.6%</a:t>
            </a:r>
          </a:p>
          <a:p>
            <a:pPr marL="449263" lvl="3" indent="-285750">
              <a:spcAft>
                <a:spcPts val="30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Shanti Nagar – 26.7%</a:t>
            </a:r>
          </a:p>
          <a:p>
            <a:pPr marL="449263" lvl="3" indent="-285750">
              <a:spcAft>
                <a:spcPts val="300"/>
              </a:spcAft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Vijayanagar – 25.7%</a:t>
            </a:r>
          </a:p>
          <a:p>
            <a:pPr marL="449263" lvl="3" indent="-285750">
              <a:buClr>
                <a:srgbClr val="AB1842"/>
              </a:buClr>
              <a:buSzPts val="1360"/>
              <a:buFont typeface="Noto Sans Symbols"/>
              <a:buChar char="❑"/>
            </a:pPr>
            <a:r>
              <a:rPr lang="en-US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Channapatna</a:t>
            </a:r>
            <a:r>
              <a:rPr lang="en-US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21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21"/>
          <p:cNvSpPr txBox="1"/>
          <p:nvPr/>
        </p:nvSpPr>
        <p:spPr>
          <a:xfrm>
            <a:off x="69625" y="176275"/>
            <a:ext cx="1111099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Encourage customers to opt for Digital payment methods</a:t>
            </a:r>
            <a:endParaRPr sz="3200"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609602" y="1683641"/>
            <a:ext cx="3839027" cy="9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l" rtl="0">
              <a:lnSpc>
                <a:spcPct val="115000"/>
              </a:lnSpc>
              <a:spcAft>
                <a:spcPts val="0"/>
              </a:spcAft>
              <a:buClr>
                <a:srgbClr val="AB1842"/>
              </a:buClr>
              <a:buSzPts val="1400"/>
            </a:pP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transactions</a:t>
            </a:r>
            <a:r>
              <a:rPr lang="en-US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76% </a:t>
            </a: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(Credit Card &gt; Debit Card &gt; UPI) outperformed Cash transactions – </a:t>
            </a:r>
            <a:r>
              <a:rPr lang="en-US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24%</a:t>
            </a: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09601" y="1216784"/>
            <a:ext cx="222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Insights</a:t>
            </a:r>
            <a:endParaRPr/>
          </a:p>
        </p:txBody>
      </p:sp>
      <p:cxnSp>
        <p:nvCxnSpPr>
          <p:cNvPr id="214" name="Google Shape;214;p21"/>
          <p:cNvCxnSpPr/>
          <p:nvPr/>
        </p:nvCxnSpPr>
        <p:spPr>
          <a:xfrm>
            <a:off x="686719" y="1586116"/>
            <a:ext cx="22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21"/>
          <p:cNvSpPr txBox="1"/>
          <p:nvPr/>
        </p:nvSpPr>
        <p:spPr>
          <a:xfrm>
            <a:off x="5373510" y="1683641"/>
            <a:ext cx="4755900" cy="9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l" rtl="0">
              <a:lnSpc>
                <a:spcPct val="115000"/>
              </a:lnSpc>
              <a:spcAft>
                <a:spcPts val="0"/>
              </a:spcAft>
              <a:buClr>
                <a:srgbClr val="AB1842"/>
              </a:buClr>
              <a:buSzPts val="1400"/>
            </a:pP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Unusual revenue distribution — </a:t>
            </a:r>
            <a:r>
              <a:rPr lang="en-US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185.1K</a:t>
            </a: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revenue</a:t>
            </a: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6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235 rides </a:t>
            </a:r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suggests that while fewer customers use cash, their trips tend to be high-value rides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4335A-BFC1-0D6B-9B12-428EA0321B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7" t="1029" r="333" b="1299"/>
          <a:stretch/>
        </p:blipFill>
        <p:spPr>
          <a:xfrm>
            <a:off x="5497286" y="3407230"/>
            <a:ext cx="6354535" cy="20886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F450B-7BCD-1478-21B1-9322E2C57A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1" t="1316" r="938" b="819"/>
          <a:stretch/>
        </p:blipFill>
        <p:spPr>
          <a:xfrm>
            <a:off x="707571" y="3427688"/>
            <a:ext cx="3111138" cy="3158169"/>
          </a:xfrm>
          <a:prstGeom prst="rect">
            <a:avLst/>
          </a:prstGeom>
        </p:spPr>
      </p:pic>
      <p:sp>
        <p:nvSpPr>
          <p:cNvPr id="10" name="Google Shape;213;p21">
            <a:extLst>
              <a:ext uri="{FF2B5EF4-FFF2-40B4-BE49-F238E27FC236}">
                <a16:creationId xmlns:a16="http://schemas.microsoft.com/office/drawing/2014/main" id="{03D8F7B6-FAEC-C40F-F226-A897E2FDF461}"/>
              </a:ext>
            </a:extLst>
          </p:cNvPr>
          <p:cNvSpPr txBox="1"/>
          <p:nvPr/>
        </p:nvSpPr>
        <p:spPr>
          <a:xfrm>
            <a:off x="5373510" y="1216784"/>
            <a:ext cx="222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B1842"/>
                </a:solidFill>
                <a:latin typeface="Rockwell"/>
                <a:ea typeface="Rockwell"/>
                <a:cs typeface="Rockwell"/>
                <a:sym typeface="Rockwell"/>
              </a:rPr>
              <a:t>Insights</a:t>
            </a:r>
            <a:endParaRPr/>
          </a:p>
        </p:txBody>
      </p:sp>
      <p:cxnSp>
        <p:nvCxnSpPr>
          <p:cNvPr id="11" name="Google Shape;214;p21">
            <a:extLst>
              <a:ext uri="{FF2B5EF4-FFF2-40B4-BE49-F238E27FC236}">
                <a16:creationId xmlns:a16="http://schemas.microsoft.com/office/drawing/2014/main" id="{4EF76113-FBC3-C060-005E-F7D0D4F443DA}"/>
              </a:ext>
            </a:extLst>
          </p:cNvPr>
          <p:cNvCxnSpPr/>
          <p:nvPr/>
        </p:nvCxnSpPr>
        <p:spPr>
          <a:xfrm>
            <a:off x="5450628" y="1586116"/>
            <a:ext cx="22143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24"/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24"/>
          <p:cNvSpPr txBox="1"/>
          <p:nvPr/>
        </p:nvSpPr>
        <p:spPr>
          <a:xfrm>
            <a:off x="165252" y="176270"/>
            <a:ext cx="10356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Recommendations</a:t>
            </a:r>
            <a:endParaRPr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-3222773" y="2278700"/>
            <a:ext cx="199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68;p17">
            <a:extLst>
              <a:ext uri="{FF2B5EF4-FFF2-40B4-BE49-F238E27FC236}">
                <a16:creationId xmlns:a16="http://schemas.microsoft.com/office/drawing/2014/main" id="{BF9FA645-9AFA-413B-DB1A-F10FFF57D1F8}"/>
              </a:ext>
            </a:extLst>
          </p:cNvPr>
          <p:cNvSpPr txBox="1"/>
          <p:nvPr/>
        </p:nvSpPr>
        <p:spPr>
          <a:xfrm>
            <a:off x="165252" y="1001429"/>
            <a:ext cx="11863264" cy="3180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2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generation</a:t>
            </a:r>
            <a:endParaRPr lang="en-IN" sz="12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300"/>
              </a:spcAft>
              <a:buClr>
                <a:srgbClr val="AB1842"/>
              </a:buClr>
              <a:buFont typeface="Wingdings" panose="05000000000000000000" pitchFamily="2" charset="2"/>
              <a:buChar char=""/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targeted discounts or cashbacks for rides during Early Morning, Evening, Night, and Midnight windows.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slots between 4 PM and 8 PM show higher average fares but generate relatively lower revenue indicating underutilization from both operational and marketing standpoints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2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Drivers’ performance</a:t>
            </a: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  <a:tab pos="914400" algn="l"/>
              </a:tabLst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incentivization program to improve performance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2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Rides cancellation</a:t>
            </a:r>
            <a:endParaRPr lang="en-IN" sz="12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  <a:tab pos="914400" algn="l"/>
              </a:tabLst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Addressing driver and customer cancellations can improve ride completion to 59%.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2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methods</a:t>
            </a:r>
            <a:endParaRPr lang="en-IN" sz="12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  <a:tab pos="914400" algn="l"/>
              </a:tabLst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Digital Alternatives for High-Value Rides- Offering exclusive discounts or smoother checkout for high-value transactions on Digital payment methods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Aft>
                <a:spcPts val="6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</a:tabLst>
            </a:pPr>
            <a:r>
              <a:rPr lang="en-US" sz="12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 conversion rate</a:t>
            </a:r>
            <a:endParaRPr lang="en-IN" sz="12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3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  <a:tab pos="914400" algn="l"/>
              </a:tabLst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wait-times by better driver allocation can further improve the completion rate to 67%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800"/>
              </a:spcAft>
              <a:buClr>
                <a:srgbClr val="AB1842"/>
              </a:buClr>
              <a:buFont typeface="Wingdings" panose="05000000000000000000" pitchFamily="2" charset="2"/>
              <a:buChar char=""/>
              <a:tabLst>
                <a:tab pos="457200" algn="l"/>
                <a:tab pos="914400" algn="l"/>
              </a:tabLst>
            </a:pPr>
            <a:r>
              <a:rPr lang="en-US" sz="1200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with A/B tests for ride suggestion algorithms and booking flows to increase conversions to 80%</a:t>
            </a:r>
            <a:endParaRPr lang="en-IN" sz="12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56B7E2-0F17-DD5F-1AA5-7EAEF35441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" t="1905" r="501" b="965"/>
          <a:stretch/>
        </p:blipFill>
        <p:spPr>
          <a:xfrm>
            <a:off x="1865085" y="4301825"/>
            <a:ext cx="8445501" cy="2429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18C0A3B7-818E-A510-2DE2-DFC82FCD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4">
            <a:extLst>
              <a:ext uri="{FF2B5EF4-FFF2-40B4-BE49-F238E27FC236}">
                <a16:creationId xmlns:a16="http://schemas.microsoft.com/office/drawing/2014/main" id="{12FCA9FC-32F3-469D-8023-9E63AB7705DC}"/>
              </a:ext>
            </a:extLst>
          </p:cNvPr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5C95AE94-C259-C5E5-3B7A-904525234CE6}"/>
              </a:ext>
            </a:extLst>
          </p:cNvPr>
          <p:cNvSpPr txBox="1"/>
          <p:nvPr/>
        </p:nvSpPr>
        <p:spPr>
          <a:xfrm>
            <a:off x="165253" y="176270"/>
            <a:ext cx="678067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Appendix – Revenue Optimization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FB491-4E19-44FA-EF2B-4F8C907C0C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" t="1130" r="458" b="1151"/>
          <a:stretch/>
        </p:blipFill>
        <p:spPr>
          <a:xfrm>
            <a:off x="834572" y="3606801"/>
            <a:ext cx="10602686" cy="24746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FDEB08-36BB-542B-5B6C-AB6431AFEE18}"/>
              </a:ext>
            </a:extLst>
          </p:cNvPr>
          <p:cNvSpPr txBox="1"/>
          <p:nvPr/>
        </p:nvSpPr>
        <p:spPr>
          <a:xfrm>
            <a:off x="808892" y="1380392"/>
            <a:ext cx="8774723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 night and early morning rides had higher average fares due to longer trips or surge pricing.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spikes are observed at non-linear intervals, such as:</a:t>
            </a:r>
          </a:p>
          <a:p>
            <a:pPr marL="285750" indent="-285750">
              <a:spcAft>
                <a:spcPts val="300"/>
              </a:spcAft>
              <a:buClr>
                <a:srgbClr val="D82042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Midnight (0–1 AM)</a:t>
            </a:r>
          </a:p>
          <a:p>
            <a:pPr marL="285750" indent="-285750">
              <a:spcAft>
                <a:spcPts val="300"/>
              </a:spcAft>
              <a:buClr>
                <a:srgbClr val="D82042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 (6–7 AM)</a:t>
            </a:r>
          </a:p>
          <a:p>
            <a:pPr marL="285750" indent="-285750">
              <a:spcAft>
                <a:spcPts val="600"/>
              </a:spcAft>
              <a:buClr>
                <a:srgbClr val="D82042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 evening (10–11 PM)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implies that ride fare is driven more by specific travel behaviors (e.g., airport transfers, commuting patterns, late-night surges) rather than just the hour of the day. Refer figure-6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12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DF"/>
        </a:solidFill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6B9B6B86-13A6-432C-14D5-74776C91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4">
            <a:extLst>
              <a:ext uri="{FF2B5EF4-FFF2-40B4-BE49-F238E27FC236}">
                <a16:creationId xmlns:a16="http://schemas.microsoft.com/office/drawing/2014/main" id="{0C5542FB-5CF1-7E79-A5CC-591CAB8E004E}"/>
              </a:ext>
            </a:extLst>
          </p:cNvPr>
          <p:cNvCxnSpPr/>
          <p:nvPr/>
        </p:nvCxnSpPr>
        <p:spPr>
          <a:xfrm>
            <a:off x="0" y="881349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21E0AFB4-B784-1539-0C65-41B022AABA31}"/>
              </a:ext>
            </a:extLst>
          </p:cNvPr>
          <p:cNvSpPr txBox="1"/>
          <p:nvPr/>
        </p:nvSpPr>
        <p:spPr>
          <a:xfrm>
            <a:off x="165252" y="176270"/>
            <a:ext cx="1182745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D82042"/>
                </a:solidFill>
                <a:latin typeface="Rockwell"/>
                <a:ea typeface="Rockwell"/>
                <a:cs typeface="Rockwell"/>
                <a:sym typeface="Rockwell"/>
              </a:rPr>
              <a:t>Appendix – Location Vs. Duration (Trip optimization)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624F0-528F-524B-78A3-A451C0C13634}"/>
              </a:ext>
            </a:extLst>
          </p:cNvPr>
          <p:cNvSpPr txBox="1"/>
          <p:nvPr/>
        </p:nvSpPr>
        <p:spPr>
          <a:xfrm>
            <a:off x="808892" y="948127"/>
            <a:ext cx="8774723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heatmap above displays trip volume by pickup zone (rows) and time slot (columns).</a:t>
            </a: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600"/>
              </a:spcAft>
              <a:buClr>
                <a:srgbClr val="D82042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 shades represent higher numbers of rides and Red shades represent zero or less numbers of rides. Amber is moderate number of rides.</a:t>
            </a:r>
          </a:p>
          <a:p>
            <a:pPr marL="285750" indent="-285750">
              <a:buClr>
                <a:srgbClr val="D82042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ride periods differ by zone. Resource allocation can be optimized by mapping peak hours with zones.</a:t>
            </a:r>
            <a:endParaRPr lang="en-IN" sz="1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BD42F-4805-4758-5BF8-B60C8AFE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87" y="2461659"/>
            <a:ext cx="6677915" cy="422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12223"/>
      </p:ext>
    </p:extLst>
  </p:cSld>
  <p:clrMapOvr>
    <a:masterClrMapping/>
  </p:clrMapOvr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727</Words>
  <Application>Microsoft Office PowerPoint</Application>
  <PresentationFormat>Widescreen</PresentationFormat>
  <Paragraphs>82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Noto Sans Symbols</vt:lpstr>
      <vt:lpstr>Rockwell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Vashishth</dc:creator>
  <cp:lastModifiedBy>Rakesh Kumar Sahoo</cp:lastModifiedBy>
  <cp:revision>10</cp:revision>
  <dcterms:modified xsi:type="dcterms:W3CDTF">2025-06-14T12:21:44Z</dcterms:modified>
</cp:coreProperties>
</file>