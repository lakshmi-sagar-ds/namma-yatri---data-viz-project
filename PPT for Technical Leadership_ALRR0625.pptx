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72" r:id="rId2"/>
    <p:sldId id="257" r:id="rId3"/>
    <p:sldId id="258" r:id="rId4"/>
    <p:sldId id="259" r:id="rId5"/>
    <p:sldId id="273" r:id="rId6"/>
    <p:sldId id="260" r:id="rId7"/>
    <p:sldId id="261" r:id="rId8"/>
    <p:sldId id="262" r:id="rId9"/>
    <p:sldId id="264" r:id="rId10"/>
    <p:sldId id="267" r:id="rId11"/>
    <p:sldId id="271" r:id="rId12"/>
    <p:sldId id="274"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7DF"/>
    <a:srgbClr val="4D955B"/>
    <a:srgbClr val="D82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868" y="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5DFFA8F-8DDE-3699-E388-0CDE832EE7C7}"/>
            </a:ext>
          </a:extLst>
        </p:cNvPr>
        <p:cNvGrpSpPr/>
        <p:nvPr/>
      </p:nvGrpSpPr>
      <p:grpSpPr>
        <a:xfrm>
          <a:off x="0" y="0"/>
          <a:ext cx="0" cy="0"/>
          <a:chOff x="0" y="0"/>
          <a:chExt cx="0" cy="0"/>
        </a:xfrm>
      </p:grpSpPr>
      <p:sp>
        <p:nvSpPr>
          <p:cNvPr id="162" name="Google Shape;162;p5:notes">
            <a:extLst>
              <a:ext uri="{FF2B5EF4-FFF2-40B4-BE49-F238E27FC236}">
                <a16:creationId xmlns:a16="http://schemas.microsoft.com/office/drawing/2014/main" id="{3F328906-5F35-3DE6-E61B-8189A87008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5:notes">
            <a:extLst>
              <a:ext uri="{FF2B5EF4-FFF2-40B4-BE49-F238E27FC236}">
                <a16:creationId xmlns:a16="http://schemas.microsoft.com/office/drawing/2014/main" id="{1FBE1998-DA93-4B2F-1087-6E62C6C824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0513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65956732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365956732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66e54ebd5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g366e54ebd5b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86BCF33-FA6A-AA90-39E1-D9D04B02612C}"/>
            </a:ext>
          </a:extLst>
        </p:cNvPr>
        <p:cNvGrpSpPr/>
        <p:nvPr/>
      </p:nvGrpSpPr>
      <p:grpSpPr>
        <a:xfrm>
          <a:off x="0" y="0"/>
          <a:ext cx="0" cy="0"/>
          <a:chOff x="0" y="0"/>
          <a:chExt cx="0" cy="0"/>
        </a:xfrm>
      </p:grpSpPr>
      <p:sp>
        <p:nvSpPr>
          <p:cNvPr id="107" name="Google Shape;107;p2:notes">
            <a:extLst>
              <a:ext uri="{FF2B5EF4-FFF2-40B4-BE49-F238E27FC236}">
                <a16:creationId xmlns:a16="http://schemas.microsoft.com/office/drawing/2014/main" id="{226AA8FE-54A8-4127-777B-1164ACAD57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a:extLst>
              <a:ext uri="{FF2B5EF4-FFF2-40B4-BE49-F238E27FC236}">
                <a16:creationId xmlns:a16="http://schemas.microsoft.com/office/drawing/2014/main" id="{877EF6C6-407D-EBAC-8799-DBB32B2B1C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612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DC7BCDA-662E-BD78-40A2-EEEAF5D258BA}"/>
            </a:ext>
          </a:extLst>
        </p:cNvPr>
        <p:cNvGrpSpPr/>
        <p:nvPr/>
      </p:nvGrpSpPr>
      <p:grpSpPr>
        <a:xfrm>
          <a:off x="0" y="0"/>
          <a:ext cx="0" cy="0"/>
          <a:chOff x="0" y="0"/>
          <a:chExt cx="0" cy="0"/>
        </a:xfrm>
      </p:grpSpPr>
      <p:sp>
        <p:nvSpPr>
          <p:cNvPr id="107" name="Google Shape;107;p2:notes">
            <a:extLst>
              <a:ext uri="{FF2B5EF4-FFF2-40B4-BE49-F238E27FC236}">
                <a16:creationId xmlns:a16="http://schemas.microsoft.com/office/drawing/2014/main" id="{6D5B1900-9DDD-A07D-3AFF-5C5FCF9F54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a:extLst>
              <a:ext uri="{FF2B5EF4-FFF2-40B4-BE49-F238E27FC236}">
                <a16:creationId xmlns:a16="http://schemas.microsoft.com/office/drawing/2014/main" id="{06CB3D64-285F-116D-7EC6-207D736BB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1954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3"/>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33" name="Google Shape;33;p4"/>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6"/>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25754" algn="l">
              <a:lnSpc>
                <a:spcPct val="90000"/>
              </a:lnSpc>
              <a:spcBef>
                <a:spcPts val="400"/>
              </a:spcBef>
              <a:spcAft>
                <a:spcPts val="0"/>
              </a:spcAft>
              <a:buSzPts val="1530"/>
              <a:buChar char="▪"/>
              <a:defRPr sz="1800"/>
            </a:lvl6pPr>
            <a:lvl7pPr marL="3200400" lvl="6" indent="-325754" algn="l">
              <a:lnSpc>
                <a:spcPct val="90000"/>
              </a:lnSpc>
              <a:spcBef>
                <a:spcPts val="400"/>
              </a:spcBef>
              <a:spcAft>
                <a:spcPts val="0"/>
              </a:spcAft>
              <a:buSzPts val="1530"/>
              <a:buChar char="▪"/>
              <a:defRPr sz="1800"/>
            </a:lvl7pPr>
            <a:lvl8pPr marL="3657600" lvl="7" indent="-325754" algn="l">
              <a:lnSpc>
                <a:spcPct val="90000"/>
              </a:lnSpc>
              <a:spcBef>
                <a:spcPts val="400"/>
              </a:spcBef>
              <a:spcAft>
                <a:spcPts val="0"/>
              </a:spcAft>
              <a:buSzPts val="1530"/>
              <a:buChar char="▪"/>
              <a:defRPr sz="1800"/>
            </a:lvl8pPr>
            <a:lvl9pPr marL="4114800" lvl="8" indent="-325754" algn="l">
              <a:lnSpc>
                <a:spcPct val="90000"/>
              </a:lnSpc>
              <a:spcBef>
                <a:spcPts val="400"/>
              </a:spcBef>
              <a:spcAft>
                <a:spcPts val="200"/>
              </a:spcAft>
              <a:buSzPts val="1530"/>
              <a:buChar char="▪"/>
              <a:defRPr sz="1800"/>
            </a:lvl9pPr>
          </a:lstStyle>
          <a:p>
            <a:endParaRPr/>
          </a:p>
        </p:txBody>
      </p:sp>
      <p:sp>
        <p:nvSpPr>
          <p:cNvPr id="49" name="Google Shape;49;p6"/>
          <p:cNvSpPr txBox="1">
            <a:spLocks noGrp="1"/>
          </p:cNvSpPr>
          <p:nvPr>
            <p:ph type="body" idx="2"/>
          </p:nvPr>
        </p:nvSpPr>
        <p:spPr>
          <a:xfrm>
            <a:off x="6364224"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25754" algn="l">
              <a:lnSpc>
                <a:spcPct val="90000"/>
              </a:lnSpc>
              <a:spcBef>
                <a:spcPts val="400"/>
              </a:spcBef>
              <a:spcAft>
                <a:spcPts val="0"/>
              </a:spcAft>
              <a:buSzPts val="1530"/>
              <a:buChar char="▪"/>
              <a:defRPr sz="1800"/>
            </a:lvl6pPr>
            <a:lvl7pPr marL="3200400" lvl="6" indent="-325754" algn="l">
              <a:lnSpc>
                <a:spcPct val="90000"/>
              </a:lnSpc>
              <a:spcBef>
                <a:spcPts val="400"/>
              </a:spcBef>
              <a:spcAft>
                <a:spcPts val="0"/>
              </a:spcAft>
              <a:buSzPts val="1530"/>
              <a:buChar char="▪"/>
              <a:defRPr sz="1800"/>
            </a:lvl7pPr>
            <a:lvl8pPr marL="3657600" lvl="7" indent="-325754" algn="l">
              <a:lnSpc>
                <a:spcPct val="90000"/>
              </a:lnSpc>
              <a:spcBef>
                <a:spcPts val="400"/>
              </a:spcBef>
              <a:spcAft>
                <a:spcPts val="0"/>
              </a:spcAft>
              <a:buSzPts val="1530"/>
              <a:buChar char="▪"/>
              <a:defRPr sz="1800"/>
            </a:lvl8pPr>
            <a:lvl9pPr marL="4114800" lvl="8" indent="-325754" algn="l">
              <a:lnSpc>
                <a:spcPct val="90000"/>
              </a:lnSpc>
              <a:spcBef>
                <a:spcPts val="400"/>
              </a:spcBef>
              <a:spcAft>
                <a:spcPts val="200"/>
              </a:spcAft>
              <a:buSzPts val="1530"/>
              <a:buChar char="▪"/>
              <a:defRPr sz="1800"/>
            </a:lvl9pPr>
          </a:lstStyle>
          <a:p>
            <a:endParaRPr/>
          </a:p>
        </p:txBody>
      </p:sp>
      <p:sp>
        <p:nvSpPr>
          <p:cNvPr id="50" name="Google Shape;50;p6"/>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3"/>
        <p:cNvGrpSpPr/>
        <p:nvPr/>
      </p:nvGrpSpPr>
      <p:grpSpPr>
        <a:xfrm>
          <a:off x="0" y="0"/>
          <a:ext cx="0" cy="0"/>
          <a:chOff x="0" y="0"/>
          <a:chExt cx="0" cy="0"/>
        </a:xfrm>
      </p:grpSpPr>
      <p:sp>
        <p:nvSpPr>
          <p:cNvPr id="54" name="Google Shape;54;p7"/>
          <p:cNvSpPr txBox="1">
            <a:spLocks noGrp="1"/>
          </p:cNvSpPr>
          <p:nvPr>
            <p:ph type="body" idx="1"/>
          </p:nvPr>
        </p:nvSpPr>
        <p:spPr>
          <a:xfrm>
            <a:off x="1066800"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5" name="Google Shape;55;p7"/>
          <p:cNvSpPr txBox="1">
            <a:spLocks noGrp="1"/>
          </p:cNvSpPr>
          <p:nvPr>
            <p:ph type="body" idx="2"/>
          </p:nvPr>
        </p:nvSpPr>
        <p:spPr>
          <a:xfrm>
            <a:off x="1069848"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6" name="Google Shape;56;p7"/>
          <p:cNvSpPr txBox="1">
            <a:spLocks noGrp="1"/>
          </p:cNvSpPr>
          <p:nvPr>
            <p:ph type="body" idx="3"/>
          </p:nvPr>
        </p:nvSpPr>
        <p:spPr>
          <a:xfrm>
            <a:off x="6364224"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7" name="Google Shape;57;p7"/>
          <p:cNvSpPr txBox="1">
            <a:spLocks noGrp="1"/>
          </p:cNvSpPr>
          <p:nvPr>
            <p:ph type="body" idx="4"/>
          </p:nvPr>
        </p:nvSpPr>
        <p:spPr>
          <a:xfrm>
            <a:off x="6364224"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8" name="Google Shape;58;p7"/>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1" name="Google Shape;61;p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2"/>
        <p:cNvGrpSpPr/>
        <p:nvPr/>
      </p:nvGrpSpPr>
      <p:grpSpPr>
        <a:xfrm>
          <a:off x="0" y="0"/>
          <a:ext cx="0" cy="0"/>
          <a:chOff x="0" y="0"/>
          <a:chExt cx="0" cy="0"/>
        </a:xfrm>
      </p:grpSpPr>
      <p:sp>
        <p:nvSpPr>
          <p:cNvPr id="63" name="Google Shape;63;p8"/>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9"/>
          <p:cNvSpPr/>
          <p:nvPr/>
        </p:nvSpPr>
        <p:spPr>
          <a:xfrm>
            <a:off x="8303740" y="0"/>
            <a:ext cx="3888259" cy="6857999"/>
          </a:xfrm>
          <a:prstGeom prst="rect">
            <a:avLst/>
          </a:prstGeom>
          <a:blipFill rotWithShape="1">
            <a:blip r:embed="rId2">
              <a:alphaModFix amt="60000"/>
            </a:blip>
            <a:tile tx="0" ty="-7048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ckwell"/>
              <a:ea typeface="Rockwell"/>
              <a:cs typeface="Rockwell"/>
              <a:sym typeface="Rockwell"/>
            </a:endParaRPr>
          </a:p>
        </p:txBody>
      </p:sp>
      <p:sp>
        <p:nvSpPr>
          <p:cNvPr id="69" name="Google Shape;69;p9"/>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Rockwel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9"/>
          <p:cNvSpPr txBox="1">
            <a:spLocks noGrp="1"/>
          </p:cNvSpPr>
          <p:nvPr>
            <p:ph type="body" idx="1"/>
          </p:nvPr>
        </p:nvSpPr>
        <p:spPr>
          <a:xfrm>
            <a:off x="838200" y="685800"/>
            <a:ext cx="6711696" cy="5020056"/>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36550" algn="l">
              <a:lnSpc>
                <a:spcPct val="90000"/>
              </a:lnSpc>
              <a:spcBef>
                <a:spcPts val="400"/>
              </a:spcBef>
              <a:spcAft>
                <a:spcPts val="0"/>
              </a:spcAft>
              <a:buSzPts val="1700"/>
              <a:buChar char="▪"/>
              <a:defRPr sz="2000"/>
            </a:lvl6pPr>
            <a:lvl7pPr marL="3200400" lvl="6" indent="-336550" algn="l">
              <a:lnSpc>
                <a:spcPct val="90000"/>
              </a:lnSpc>
              <a:spcBef>
                <a:spcPts val="400"/>
              </a:spcBef>
              <a:spcAft>
                <a:spcPts val="0"/>
              </a:spcAft>
              <a:buSzPts val="1700"/>
              <a:buChar char="▪"/>
              <a:defRPr sz="2000"/>
            </a:lvl7pPr>
            <a:lvl8pPr marL="3657600" lvl="7" indent="-336550" algn="l">
              <a:lnSpc>
                <a:spcPct val="90000"/>
              </a:lnSpc>
              <a:spcBef>
                <a:spcPts val="400"/>
              </a:spcBef>
              <a:spcAft>
                <a:spcPts val="0"/>
              </a:spcAft>
              <a:buSzPts val="1700"/>
              <a:buChar char="▪"/>
              <a:defRPr sz="2000"/>
            </a:lvl8pPr>
            <a:lvl9pPr marL="4114800" lvl="8" indent="-336550" algn="l">
              <a:lnSpc>
                <a:spcPct val="90000"/>
              </a:lnSpc>
              <a:spcBef>
                <a:spcPts val="400"/>
              </a:spcBef>
              <a:spcAft>
                <a:spcPts val="200"/>
              </a:spcAft>
              <a:buSzPts val="1700"/>
              <a:buChar char="▪"/>
              <a:defRPr sz="2000"/>
            </a:lvl9pPr>
          </a:lstStyle>
          <a:p>
            <a:endParaRPr/>
          </a:p>
        </p:txBody>
      </p:sp>
      <p:sp>
        <p:nvSpPr>
          <p:cNvPr id="71" name="Google Shape;71;p9"/>
          <p:cNvSpPr txBox="1">
            <a:spLocks noGrp="1"/>
          </p:cNvSpPr>
          <p:nvPr>
            <p:ph type="body" idx="2"/>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9E3611"/>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72" name="Google Shape;72;p9"/>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74" name="Google Shape;74;p9"/>
          <p:cNvGrpSpPr/>
          <p:nvPr/>
        </p:nvGrpSpPr>
        <p:grpSpPr>
          <a:xfrm>
            <a:off x="11401725" y="6229681"/>
            <a:ext cx="457200" cy="457200"/>
            <a:chOff x="11361456" y="6195813"/>
            <a:chExt cx="548640" cy="548640"/>
          </a:xfrm>
        </p:grpSpPr>
        <p:sp>
          <p:nvSpPr>
            <p:cNvPr id="75" name="Google Shape;75;p9"/>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76" name="Google Shape;76;p9"/>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77" name="Google Shape;77;p9"/>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10"/>
          <p:cNvSpPr/>
          <p:nvPr/>
        </p:nvSpPr>
        <p:spPr>
          <a:xfrm>
            <a:off x="8303740" y="0"/>
            <a:ext cx="3888259" cy="6857999"/>
          </a:xfrm>
          <a:prstGeom prst="rect">
            <a:avLst/>
          </a:prstGeom>
          <a:blipFill rotWithShape="1">
            <a:blip r:embed="rId2">
              <a:alphaModFix amt="60000"/>
            </a:blip>
            <a:tile tx="0" ty="-7048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ckwell"/>
              <a:ea typeface="Rockwell"/>
              <a:cs typeface="Rockwell"/>
              <a:sym typeface="Rockwell"/>
            </a:endParaRPr>
          </a:p>
        </p:txBody>
      </p:sp>
      <p:sp>
        <p:nvSpPr>
          <p:cNvPr id="80" name="Google Shape;80;p10"/>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Rockwel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0"/>
          <p:cNvSpPr>
            <a:spLocks noGrp="1"/>
          </p:cNvSpPr>
          <p:nvPr>
            <p:ph type="pic" idx="2"/>
          </p:nvPr>
        </p:nvSpPr>
        <p:spPr>
          <a:xfrm>
            <a:off x="0" y="0"/>
            <a:ext cx="8303740" cy="6858000"/>
          </a:xfrm>
          <a:prstGeom prst="rect">
            <a:avLst/>
          </a:prstGeom>
          <a:solidFill>
            <a:srgbClr val="E1DFDF"/>
          </a:solidFill>
          <a:ln>
            <a:noFill/>
          </a:ln>
        </p:spPr>
      </p:sp>
      <p:sp>
        <p:nvSpPr>
          <p:cNvPr id="82" name="Google Shape;82;p10"/>
          <p:cNvSpPr txBox="1">
            <a:spLocks noGrp="1"/>
          </p:cNvSpPr>
          <p:nvPr>
            <p:ph type="body" idx="1"/>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9E3611"/>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83" name="Google Shape;83;p10"/>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84" name="Google Shape;84;p10"/>
          <p:cNvGrpSpPr/>
          <p:nvPr/>
        </p:nvGrpSpPr>
        <p:grpSpPr>
          <a:xfrm>
            <a:off x="11401725" y="6229681"/>
            <a:ext cx="457200" cy="457200"/>
            <a:chOff x="11361456" y="6195813"/>
            <a:chExt cx="548640" cy="548640"/>
          </a:xfrm>
        </p:grpSpPr>
        <p:sp>
          <p:nvSpPr>
            <p:cNvPr id="85" name="Google Shape;85;p10"/>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86" name="Google Shape;86;p10"/>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87" name="Google Shape;87;p10"/>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1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1"/>
          <p:cNvSpPr txBox="1">
            <a:spLocks noGrp="1"/>
          </p:cNvSpPr>
          <p:nvPr>
            <p:ph type="body" idx="1"/>
          </p:nvPr>
        </p:nvSpPr>
        <p:spPr>
          <a:xfrm rot="5400000">
            <a:off x="4073652" y="-882396"/>
            <a:ext cx="4050792" cy="100584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91" name="Google Shape;91;p11"/>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12"/>
          <p:cNvSpPr txBox="1">
            <a:spLocks noGrp="1"/>
          </p:cNvSpPr>
          <p:nvPr>
            <p:ph type="title"/>
          </p:nvPr>
        </p:nvSpPr>
        <p:spPr>
          <a:xfrm rot="5400000">
            <a:off x="7181850" y="2076450"/>
            <a:ext cx="5638800" cy="2552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2"/>
          <p:cNvSpPr txBox="1">
            <a:spLocks noGrp="1"/>
          </p:cNvSpPr>
          <p:nvPr>
            <p:ph type="body" idx="1"/>
          </p:nvPr>
        </p:nvSpPr>
        <p:spPr>
          <a:xfrm rot="5400000">
            <a:off x="2000250" y="-400050"/>
            <a:ext cx="5638800" cy="75057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97" name="Google Shape;97;p12"/>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5400"/>
              <a:buFont typeface="Rockwell"/>
              <a:buNone/>
              <a:defRPr sz="5400" b="0" i="0" u="none" strike="noStrike" cap="none">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marR="0" lvl="0" indent="-336550" algn="l" rtl="0">
              <a:lnSpc>
                <a:spcPct val="90000"/>
              </a:lnSpc>
              <a:spcBef>
                <a:spcPts val="1200"/>
              </a:spcBef>
              <a:spcAft>
                <a:spcPts val="0"/>
              </a:spcAft>
              <a:buClr>
                <a:srgbClr val="9E3611"/>
              </a:buClr>
              <a:buSzPts val="1700"/>
              <a:buFont typeface="Noto Sans Symbols"/>
              <a:buChar char="▪"/>
              <a:defRPr sz="2000" b="0" i="0" u="none" strike="noStrike" cap="none">
                <a:solidFill>
                  <a:schemeClr val="dk1"/>
                </a:solidFill>
                <a:latin typeface="Rockwell"/>
                <a:ea typeface="Rockwell"/>
                <a:cs typeface="Rockwell"/>
                <a:sym typeface="Rockwell"/>
              </a:defRPr>
            </a:lvl1pPr>
            <a:lvl2pPr marL="914400" marR="0" lvl="1" indent="-325755" algn="l" rtl="0">
              <a:lnSpc>
                <a:spcPct val="90000"/>
              </a:lnSpc>
              <a:spcBef>
                <a:spcPts val="400"/>
              </a:spcBef>
              <a:spcAft>
                <a:spcPts val="0"/>
              </a:spcAft>
              <a:buClr>
                <a:srgbClr val="9E3611"/>
              </a:buClr>
              <a:buSzPts val="1530"/>
              <a:buFont typeface="Noto Sans Symbols"/>
              <a:buChar char="▪"/>
              <a:defRPr sz="1800" b="0" i="0" u="none" strike="noStrike" cap="none">
                <a:solidFill>
                  <a:schemeClr val="dk1"/>
                </a:solidFill>
                <a:latin typeface="Rockwell"/>
                <a:ea typeface="Rockwell"/>
                <a:cs typeface="Rockwell"/>
                <a:sym typeface="Rockwell"/>
              </a:defRPr>
            </a:lvl2pPr>
            <a:lvl3pPr marL="1371600" marR="0" lvl="2"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3pPr>
            <a:lvl4pPr marL="1828800" marR="0" lvl="3"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4pPr>
            <a:lvl5pPr marL="2286000" marR="0" lvl="4"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5pPr>
            <a:lvl6pPr marL="2743200" marR="0" lvl="5"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6pPr>
            <a:lvl7pPr marL="3200400" marR="0" lvl="6"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7pPr>
            <a:lvl8pPr marL="3657600" marR="0" lvl="7" indent="-314959"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8pPr>
            <a:lvl9pPr marL="4114800" marR="0" lvl="8" indent="-314959" algn="l" rtl="0">
              <a:lnSpc>
                <a:spcPct val="90000"/>
              </a:lnSpc>
              <a:spcBef>
                <a:spcPts val="400"/>
              </a:spcBef>
              <a:spcAft>
                <a:spcPts val="20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9pPr>
          </a:lstStyle>
          <a:p>
            <a:endParaRPr/>
          </a:p>
        </p:txBody>
      </p:sp>
      <p:sp>
        <p:nvSpPr>
          <p:cNvPr id="8" name="Google Shape;8;p1"/>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sp>
        <p:nvSpPr>
          <p:cNvPr id="9" name="Google Shape;9;p1"/>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grpSp>
        <p:nvGrpSpPr>
          <p:cNvPr id="10" name="Google Shape;10;p1"/>
          <p:cNvGrpSpPr/>
          <p:nvPr/>
        </p:nvGrpSpPr>
        <p:grpSpPr>
          <a:xfrm>
            <a:off x="11401725" y="6229681"/>
            <a:ext cx="457200" cy="457200"/>
            <a:chOff x="11361456" y="6195813"/>
            <a:chExt cx="548640" cy="548640"/>
          </a:xfrm>
        </p:grpSpPr>
        <p:sp>
          <p:nvSpPr>
            <p:cNvPr id="11" name="Google Shape;11;p1"/>
            <p:cNvSpPr/>
            <p:nvPr/>
          </p:nvSpPr>
          <p:spPr>
            <a:xfrm>
              <a:off x="11361456" y="6195813"/>
              <a:ext cx="548640" cy="548640"/>
            </a:xfrm>
            <a:prstGeom prst="ellipse">
              <a:avLst/>
            </a:prstGeom>
            <a:blipFill rotWithShape="1">
              <a:blip r:embed="rId11">
                <a:alphaModFix/>
              </a:blip>
              <a:tile tx="5080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12" name="Google Shape;12;p1"/>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13" name="Google Shape;13;p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400" b="1" i="0" u="none" strike="noStrike" cap="none">
                <a:solidFill>
                  <a:srgbClr val="FFFFFF"/>
                </a:solidFill>
                <a:latin typeface="Rockwell"/>
                <a:ea typeface="Rockwell"/>
                <a:cs typeface="Rockwell"/>
                <a:sym typeface="Rockwell"/>
              </a:defRPr>
            </a:lvl1pPr>
            <a:lvl2pPr marL="0" marR="0" lvl="1" indent="0" algn="ctr" rtl="0">
              <a:spcBef>
                <a:spcPts val="0"/>
              </a:spcBef>
              <a:buNone/>
              <a:defRPr sz="1400" b="1" i="0" u="none" strike="noStrike" cap="none">
                <a:solidFill>
                  <a:srgbClr val="FFFFFF"/>
                </a:solidFill>
                <a:latin typeface="Rockwell"/>
                <a:ea typeface="Rockwell"/>
                <a:cs typeface="Rockwell"/>
                <a:sym typeface="Rockwell"/>
              </a:defRPr>
            </a:lvl2pPr>
            <a:lvl3pPr marL="0" marR="0" lvl="2" indent="0" algn="ctr" rtl="0">
              <a:spcBef>
                <a:spcPts val="0"/>
              </a:spcBef>
              <a:buNone/>
              <a:defRPr sz="1400" b="1" i="0" u="none" strike="noStrike" cap="none">
                <a:solidFill>
                  <a:srgbClr val="FFFFFF"/>
                </a:solidFill>
                <a:latin typeface="Rockwell"/>
                <a:ea typeface="Rockwell"/>
                <a:cs typeface="Rockwell"/>
                <a:sym typeface="Rockwell"/>
              </a:defRPr>
            </a:lvl3pPr>
            <a:lvl4pPr marL="0" marR="0" lvl="3" indent="0" algn="ctr" rtl="0">
              <a:spcBef>
                <a:spcPts val="0"/>
              </a:spcBef>
              <a:buNone/>
              <a:defRPr sz="1400" b="1" i="0" u="none" strike="noStrike" cap="none">
                <a:solidFill>
                  <a:srgbClr val="FFFFFF"/>
                </a:solidFill>
                <a:latin typeface="Rockwell"/>
                <a:ea typeface="Rockwell"/>
                <a:cs typeface="Rockwell"/>
                <a:sym typeface="Rockwell"/>
              </a:defRPr>
            </a:lvl4pPr>
            <a:lvl5pPr marL="0" marR="0" lvl="4" indent="0" algn="ctr" rtl="0">
              <a:spcBef>
                <a:spcPts val="0"/>
              </a:spcBef>
              <a:buNone/>
              <a:defRPr sz="1400" b="1" i="0" u="none" strike="noStrike" cap="none">
                <a:solidFill>
                  <a:srgbClr val="FFFFFF"/>
                </a:solidFill>
                <a:latin typeface="Rockwell"/>
                <a:ea typeface="Rockwell"/>
                <a:cs typeface="Rockwell"/>
                <a:sym typeface="Rockwell"/>
              </a:defRPr>
            </a:lvl5pPr>
            <a:lvl6pPr marL="0" marR="0" lvl="5" indent="0" algn="ctr" rtl="0">
              <a:spcBef>
                <a:spcPts val="0"/>
              </a:spcBef>
              <a:buNone/>
              <a:defRPr sz="1400" b="1" i="0" u="none" strike="noStrike" cap="none">
                <a:solidFill>
                  <a:srgbClr val="FFFFFF"/>
                </a:solidFill>
                <a:latin typeface="Rockwell"/>
                <a:ea typeface="Rockwell"/>
                <a:cs typeface="Rockwell"/>
                <a:sym typeface="Rockwell"/>
              </a:defRPr>
            </a:lvl6pPr>
            <a:lvl7pPr marL="0" marR="0" lvl="6" indent="0" algn="ctr" rtl="0">
              <a:spcBef>
                <a:spcPts val="0"/>
              </a:spcBef>
              <a:buNone/>
              <a:defRPr sz="1400" b="1" i="0" u="none" strike="noStrike" cap="none">
                <a:solidFill>
                  <a:srgbClr val="FFFFFF"/>
                </a:solidFill>
                <a:latin typeface="Rockwell"/>
                <a:ea typeface="Rockwell"/>
                <a:cs typeface="Rockwell"/>
                <a:sym typeface="Rockwell"/>
              </a:defRPr>
            </a:lvl7pPr>
            <a:lvl8pPr marL="0" marR="0" lvl="7" indent="0" algn="ctr" rtl="0">
              <a:spcBef>
                <a:spcPts val="0"/>
              </a:spcBef>
              <a:buNone/>
              <a:defRPr sz="1400" b="1" i="0" u="none" strike="noStrike" cap="none">
                <a:solidFill>
                  <a:srgbClr val="FFFFFF"/>
                </a:solidFill>
                <a:latin typeface="Rockwell"/>
                <a:ea typeface="Rockwell"/>
                <a:cs typeface="Rockwell"/>
                <a:sym typeface="Rockwell"/>
              </a:defRPr>
            </a:lvl8pPr>
            <a:lvl9pPr marL="0" marR="0" lvl="8" indent="0" algn="ctr" rtl="0">
              <a:spcBef>
                <a:spcPts val="0"/>
              </a:spcBef>
              <a:buNone/>
              <a:defRPr sz="14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468D4-9CF2-7575-7E1B-4CC85672DF74}"/>
              </a:ext>
            </a:extLst>
          </p:cNvPr>
          <p:cNvSpPr txBox="1">
            <a:spLocks/>
          </p:cNvSpPr>
          <p:nvPr/>
        </p:nvSpPr>
        <p:spPr>
          <a:xfrm>
            <a:off x="1029872" y="2649729"/>
            <a:ext cx="10132255" cy="303580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300"/>
              </a:spcAft>
            </a:pPr>
            <a:r>
              <a:rPr lang="en-US" sz="4800" i="1" dirty="0">
                <a:solidFill>
                  <a:srgbClr val="D82042"/>
                </a:solidFill>
                <a:latin typeface="Calibri"/>
                <a:ea typeface="Calibri"/>
                <a:cs typeface="Calibri"/>
                <a:sym typeface="Calibri"/>
              </a:rPr>
              <a:t>Optimizing Marketing Strategies – Improving Operational Efficiency and Revenue generation</a:t>
            </a:r>
          </a:p>
        </p:txBody>
      </p:sp>
      <p:sp>
        <p:nvSpPr>
          <p:cNvPr id="3" name="Subtitle 2">
            <a:extLst>
              <a:ext uri="{FF2B5EF4-FFF2-40B4-BE49-F238E27FC236}">
                <a16:creationId xmlns:a16="http://schemas.microsoft.com/office/drawing/2014/main" id="{45A07C6C-9625-EE5B-BBD6-641842751917}"/>
              </a:ext>
            </a:extLst>
          </p:cNvPr>
          <p:cNvSpPr txBox="1">
            <a:spLocks/>
          </p:cNvSpPr>
          <p:nvPr/>
        </p:nvSpPr>
        <p:spPr>
          <a:xfrm>
            <a:off x="4053193" y="6199448"/>
            <a:ext cx="7353716" cy="106984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pPr>
            <a:r>
              <a:rPr lang="en-US" b="1" u="sng" dirty="0"/>
              <a:t>Case Study Group</a:t>
            </a:r>
            <a:r>
              <a:rPr lang="en-US" dirty="0"/>
              <a:t>: Ankit Mathur, Lakshmi Sagar, Rakesh Kumar Sahoo, Rohit Vashishth</a:t>
            </a:r>
          </a:p>
          <a:p>
            <a:r>
              <a:rPr lang="en-US" b="1" u="sng" dirty="0"/>
              <a:t>Group Name</a:t>
            </a:r>
            <a:r>
              <a:rPr lang="en-US" dirty="0"/>
              <a:t>: ALRR0625</a:t>
            </a:r>
            <a:endParaRPr lang="en-IN" dirty="0"/>
          </a:p>
        </p:txBody>
      </p:sp>
      <p:pic>
        <p:nvPicPr>
          <p:cNvPr id="9" name="Picture 8">
            <a:extLst>
              <a:ext uri="{FF2B5EF4-FFF2-40B4-BE49-F238E27FC236}">
                <a16:creationId xmlns:a16="http://schemas.microsoft.com/office/drawing/2014/main" id="{319072BB-CC28-4250-CC6D-013B3070FA7C}"/>
              </a:ext>
            </a:extLst>
          </p:cNvPr>
          <p:cNvPicPr>
            <a:picLocks noChangeAspect="1"/>
          </p:cNvPicPr>
          <p:nvPr/>
        </p:nvPicPr>
        <p:blipFill>
          <a:blip r:embed="rId2"/>
          <a:stretch>
            <a:fillRect/>
          </a:stretch>
        </p:blipFill>
        <p:spPr>
          <a:xfrm>
            <a:off x="5108159" y="263825"/>
            <a:ext cx="2459183" cy="2459183"/>
          </a:xfrm>
          <a:prstGeom prst="rect">
            <a:avLst/>
          </a:prstGeom>
        </p:spPr>
      </p:pic>
    </p:spTree>
    <p:extLst>
      <p:ext uri="{BB962C8B-B14F-4D97-AF65-F5344CB8AC3E}">
        <p14:creationId xmlns:p14="http://schemas.microsoft.com/office/powerpoint/2010/main" val="3799660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09"/>
        <p:cNvGrpSpPr/>
        <p:nvPr/>
      </p:nvGrpSpPr>
      <p:grpSpPr>
        <a:xfrm>
          <a:off x="0" y="0"/>
          <a:ext cx="0" cy="0"/>
          <a:chOff x="0" y="0"/>
          <a:chExt cx="0" cy="0"/>
        </a:xfrm>
      </p:grpSpPr>
      <p:cxnSp>
        <p:nvCxnSpPr>
          <p:cNvPr id="110" name="Google Shape;110;p14"/>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11" name="Google Shape;111;p14"/>
          <p:cNvSpPr txBox="1"/>
          <p:nvPr/>
        </p:nvSpPr>
        <p:spPr>
          <a:xfrm>
            <a:off x="165253" y="176270"/>
            <a:ext cx="553046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D82042"/>
                </a:solidFill>
                <a:latin typeface="Rockwell"/>
                <a:ea typeface="Rockwell"/>
                <a:cs typeface="Rockwell"/>
                <a:sym typeface="Rockwell"/>
              </a:rPr>
              <a:t>Agenda</a:t>
            </a:r>
            <a:endParaRPr dirty="0"/>
          </a:p>
        </p:txBody>
      </p:sp>
      <p:grpSp>
        <p:nvGrpSpPr>
          <p:cNvPr id="34" name="Group 33">
            <a:extLst>
              <a:ext uri="{FF2B5EF4-FFF2-40B4-BE49-F238E27FC236}">
                <a16:creationId xmlns:a16="http://schemas.microsoft.com/office/drawing/2014/main" id="{B8B9C6C0-5343-0CF0-A825-00D42133E908}"/>
              </a:ext>
            </a:extLst>
          </p:cNvPr>
          <p:cNvGrpSpPr/>
          <p:nvPr/>
        </p:nvGrpSpPr>
        <p:grpSpPr>
          <a:xfrm>
            <a:off x="1995470" y="1357837"/>
            <a:ext cx="8201060" cy="4142326"/>
            <a:chOff x="1958887" y="1345963"/>
            <a:chExt cx="8201060" cy="4142326"/>
          </a:xfrm>
        </p:grpSpPr>
        <p:sp>
          <p:nvSpPr>
            <p:cNvPr id="112" name="Google Shape;112;p14"/>
            <p:cNvSpPr/>
            <p:nvPr/>
          </p:nvSpPr>
          <p:spPr>
            <a:xfrm>
              <a:off x="1961001" y="1345963"/>
              <a:ext cx="475200" cy="475200"/>
            </a:xfrm>
            <a:prstGeom prst="ellipse">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Rockwell"/>
                  <a:ea typeface="Rockwell"/>
                  <a:cs typeface="Rockwell"/>
                  <a:sym typeface="Rockwell"/>
                </a:rPr>
                <a:t>1</a:t>
              </a:r>
              <a:endParaRPr/>
            </a:p>
          </p:txBody>
        </p:sp>
        <p:sp>
          <p:nvSpPr>
            <p:cNvPr id="113" name="Google Shape;113;p14"/>
            <p:cNvSpPr/>
            <p:nvPr/>
          </p:nvSpPr>
          <p:spPr>
            <a:xfrm>
              <a:off x="1961001" y="2088611"/>
              <a:ext cx="475200" cy="475200"/>
            </a:xfrm>
            <a:prstGeom prst="ellipse">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Rockwell"/>
                  <a:ea typeface="Rockwell"/>
                  <a:cs typeface="Rockwell"/>
                  <a:sym typeface="Rockwell"/>
                </a:rPr>
                <a:t>2</a:t>
              </a:r>
              <a:endParaRPr/>
            </a:p>
          </p:txBody>
        </p:sp>
        <p:sp>
          <p:nvSpPr>
            <p:cNvPr id="114" name="Google Shape;114;p14"/>
            <p:cNvSpPr/>
            <p:nvPr/>
          </p:nvSpPr>
          <p:spPr>
            <a:xfrm>
              <a:off x="1961001" y="2833168"/>
              <a:ext cx="475200" cy="475200"/>
            </a:xfrm>
            <a:prstGeom prst="ellipse">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Rockwell"/>
                  <a:ea typeface="Rockwell"/>
                  <a:cs typeface="Rockwell"/>
                  <a:sym typeface="Rockwell"/>
                </a:rPr>
                <a:t>3</a:t>
              </a:r>
              <a:endParaRPr/>
            </a:p>
          </p:txBody>
        </p:sp>
        <p:sp>
          <p:nvSpPr>
            <p:cNvPr id="115" name="Google Shape;115;p14"/>
            <p:cNvSpPr/>
            <p:nvPr/>
          </p:nvSpPr>
          <p:spPr>
            <a:xfrm>
              <a:off x="1961001" y="3578258"/>
              <a:ext cx="475200" cy="475200"/>
            </a:xfrm>
            <a:prstGeom prst="ellipse">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Rockwell"/>
                  <a:ea typeface="Rockwell"/>
                  <a:cs typeface="Rockwell"/>
                  <a:sym typeface="Rockwell"/>
                </a:rPr>
                <a:t>4</a:t>
              </a:r>
              <a:endParaRPr/>
            </a:p>
          </p:txBody>
        </p:sp>
        <p:sp>
          <p:nvSpPr>
            <p:cNvPr id="116" name="Google Shape;116;p14"/>
            <p:cNvSpPr/>
            <p:nvPr/>
          </p:nvSpPr>
          <p:spPr>
            <a:xfrm>
              <a:off x="1961001" y="4322282"/>
              <a:ext cx="475200" cy="475200"/>
            </a:xfrm>
            <a:prstGeom prst="ellipse">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Rockwell"/>
                  <a:ea typeface="Rockwell"/>
                  <a:cs typeface="Rockwell"/>
                  <a:sym typeface="Rockwell"/>
                </a:rPr>
                <a:t>5</a:t>
              </a:r>
              <a:endParaRPr/>
            </a:p>
          </p:txBody>
        </p:sp>
        <p:sp>
          <p:nvSpPr>
            <p:cNvPr id="119" name="Google Shape;119;p14"/>
            <p:cNvSpPr txBox="1"/>
            <p:nvPr/>
          </p:nvSpPr>
          <p:spPr>
            <a:xfrm>
              <a:off x="4937893" y="1401048"/>
              <a:ext cx="21152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Objective &amp; Goals</a:t>
              </a:r>
              <a:endParaRPr/>
            </a:p>
          </p:txBody>
        </p:sp>
        <p:cxnSp>
          <p:nvCxnSpPr>
            <p:cNvPr id="120" name="Google Shape;120;p14"/>
            <p:cNvCxnSpPr>
              <a:stCxn id="112" idx="6"/>
              <a:endCxn id="119" idx="1"/>
            </p:cNvCxnSpPr>
            <p:nvPr/>
          </p:nvCxnSpPr>
          <p:spPr>
            <a:xfrm>
              <a:off x="2436201" y="1583563"/>
              <a:ext cx="2501692" cy="2151"/>
            </a:xfrm>
            <a:prstGeom prst="straightConnector1">
              <a:avLst/>
            </a:prstGeom>
            <a:noFill/>
            <a:ln w="19050" cap="flat" cmpd="sng">
              <a:solidFill>
                <a:srgbClr val="AB1842"/>
              </a:solidFill>
              <a:prstDash val="solid"/>
              <a:round/>
              <a:headEnd type="none" w="sm" len="sm"/>
              <a:tailEnd type="none" w="sm" len="sm"/>
            </a:ln>
          </p:spPr>
        </p:cxnSp>
        <p:cxnSp>
          <p:nvCxnSpPr>
            <p:cNvPr id="121" name="Google Shape;121;p14"/>
            <p:cNvCxnSpPr>
              <a:cxnSpLocks/>
              <a:stCxn id="119" idx="3"/>
            </p:cNvCxnSpPr>
            <p:nvPr/>
          </p:nvCxnSpPr>
          <p:spPr>
            <a:xfrm>
              <a:off x="7053132" y="1585714"/>
              <a:ext cx="3106815" cy="0"/>
            </a:xfrm>
            <a:prstGeom prst="straightConnector1">
              <a:avLst/>
            </a:prstGeom>
            <a:noFill/>
            <a:ln w="19050" cap="flat" cmpd="sng">
              <a:solidFill>
                <a:srgbClr val="AB1842"/>
              </a:solidFill>
              <a:prstDash val="solid"/>
              <a:round/>
              <a:headEnd type="none" w="sm" len="sm"/>
              <a:tailEnd type="triangle" w="med" len="med"/>
            </a:ln>
          </p:spPr>
        </p:cxnSp>
        <p:sp>
          <p:nvSpPr>
            <p:cNvPr id="122" name="Google Shape;122;p14"/>
            <p:cNvSpPr txBox="1"/>
            <p:nvPr/>
          </p:nvSpPr>
          <p:spPr>
            <a:xfrm>
              <a:off x="5428144" y="2139938"/>
              <a:ext cx="11347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Findings</a:t>
              </a:r>
              <a:endParaRPr/>
            </a:p>
          </p:txBody>
        </p:sp>
        <p:cxnSp>
          <p:nvCxnSpPr>
            <p:cNvPr id="123" name="Google Shape;123;p14"/>
            <p:cNvCxnSpPr>
              <a:cxnSpLocks/>
              <a:stCxn id="113" idx="6"/>
              <a:endCxn id="122" idx="1"/>
            </p:cNvCxnSpPr>
            <p:nvPr/>
          </p:nvCxnSpPr>
          <p:spPr>
            <a:xfrm flipV="1">
              <a:off x="2436201" y="2324604"/>
              <a:ext cx="2991943" cy="1607"/>
            </a:xfrm>
            <a:prstGeom prst="straightConnector1">
              <a:avLst/>
            </a:prstGeom>
            <a:noFill/>
            <a:ln w="19050" cap="flat" cmpd="sng">
              <a:solidFill>
                <a:srgbClr val="AB1842"/>
              </a:solidFill>
              <a:prstDash val="solid"/>
              <a:round/>
              <a:headEnd type="none" w="sm" len="sm"/>
              <a:tailEnd type="none" w="sm" len="sm"/>
            </a:ln>
          </p:spPr>
        </p:cxnSp>
        <p:cxnSp>
          <p:nvCxnSpPr>
            <p:cNvPr id="124" name="Google Shape;124;p14"/>
            <p:cNvCxnSpPr>
              <a:cxnSpLocks/>
              <a:stCxn id="122" idx="3"/>
            </p:cNvCxnSpPr>
            <p:nvPr/>
          </p:nvCxnSpPr>
          <p:spPr>
            <a:xfrm>
              <a:off x="6562880" y="2324604"/>
              <a:ext cx="3597067" cy="0"/>
            </a:xfrm>
            <a:prstGeom prst="straightConnector1">
              <a:avLst/>
            </a:prstGeom>
            <a:noFill/>
            <a:ln w="19050" cap="flat" cmpd="sng">
              <a:solidFill>
                <a:srgbClr val="AB1842"/>
              </a:solidFill>
              <a:prstDash val="solid"/>
              <a:round/>
              <a:headEnd type="none" w="sm" len="sm"/>
              <a:tailEnd type="triangle" w="med" len="med"/>
            </a:ln>
          </p:spPr>
        </p:cxnSp>
        <p:sp>
          <p:nvSpPr>
            <p:cNvPr id="125" name="Google Shape;125;p14"/>
            <p:cNvSpPr txBox="1"/>
            <p:nvPr/>
          </p:nvSpPr>
          <p:spPr>
            <a:xfrm>
              <a:off x="5214197" y="2885325"/>
              <a:ext cx="1498364"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Background</a:t>
              </a:r>
              <a:endParaRPr dirty="0"/>
            </a:p>
          </p:txBody>
        </p:sp>
        <p:cxnSp>
          <p:nvCxnSpPr>
            <p:cNvPr id="126" name="Google Shape;126;p14"/>
            <p:cNvCxnSpPr>
              <a:cxnSpLocks/>
              <a:stCxn id="114" idx="6"/>
              <a:endCxn id="125" idx="1"/>
            </p:cNvCxnSpPr>
            <p:nvPr/>
          </p:nvCxnSpPr>
          <p:spPr>
            <a:xfrm flipV="1">
              <a:off x="2436201" y="3069971"/>
              <a:ext cx="2777996" cy="797"/>
            </a:xfrm>
            <a:prstGeom prst="straightConnector1">
              <a:avLst/>
            </a:prstGeom>
            <a:noFill/>
            <a:ln w="19050" cap="flat" cmpd="sng">
              <a:solidFill>
                <a:srgbClr val="AB1842"/>
              </a:solidFill>
              <a:prstDash val="solid"/>
              <a:round/>
              <a:headEnd type="none" w="sm" len="sm"/>
              <a:tailEnd type="none" w="sm" len="sm"/>
            </a:ln>
          </p:spPr>
        </p:cxnSp>
        <p:cxnSp>
          <p:nvCxnSpPr>
            <p:cNvPr id="127" name="Google Shape;127;p14"/>
            <p:cNvCxnSpPr>
              <a:cxnSpLocks/>
              <a:stCxn id="125" idx="3"/>
            </p:cNvCxnSpPr>
            <p:nvPr/>
          </p:nvCxnSpPr>
          <p:spPr>
            <a:xfrm>
              <a:off x="6712561" y="3069971"/>
              <a:ext cx="3447386" cy="0"/>
            </a:xfrm>
            <a:prstGeom prst="straightConnector1">
              <a:avLst/>
            </a:prstGeom>
            <a:noFill/>
            <a:ln w="19050" cap="flat" cmpd="sng">
              <a:solidFill>
                <a:srgbClr val="AB1842"/>
              </a:solidFill>
              <a:prstDash val="solid"/>
              <a:round/>
              <a:headEnd type="none" w="sm" len="sm"/>
              <a:tailEnd type="triangle" w="med" len="med"/>
            </a:ln>
          </p:spPr>
        </p:cxnSp>
        <p:sp>
          <p:nvSpPr>
            <p:cNvPr id="128" name="Google Shape;128;p14"/>
            <p:cNvSpPr txBox="1"/>
            <p:nvPr/>
          </p:nvSpPr>
          <p:spPr>
            <a:xfrm>
              <a:off x="4224436" y="3630675"/>
              <a:ext cx="3542152"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Insights and Recommendations</a:t>
              </a:r>
              <a:endParaRPr dirty="0"/>
            </a:p>
          </p:txBody>
        </p:sp>
        <p:cxnSp>
          <p:nvCxnSpPr>
            <p:cNvPr id="129" name="Google Shape;129;p14"/>
            <p:cNvCxnSpPr>
              <a:cxnSpLocks/>
              <a:stCxn id="115" idx="6"/>
              <a:endCxn id="128" idx="1"/>
            </p:cNvCxnSpPr>
            <p:nvPr/>
          </p:nvCxnSpPr>
          <p:spPr>
            <a:xfrm flipV="1">
              <a:off x="2436201" y="3815325"/>
              <a:ext cx="1788235" cy="533"/>
            </a:xfrm>
            <a:prstGeom prst="straightConnector1">
              <a:avLst/>
            </a:prstGeom>
            <a:noFill/>
            <a:ln w="19050" cap="flat" cmpd="sng">
              <a:solidFill>
                <a:srgbClr val="AB1842"/>
              </a:solidFill>
              <a:prstDash val="solid"/>
              <a:round/>
              <a:headEnd type="none" w="sm" len="sm"/>
              <a:tailEnd type="none" w="sm" len="sm"/>
            </a:ln>
          </p:spPr>
        </p:cxnSp>
        <p:cxnSp>
          <p:nvCxnSpPr>
            <p:cNvPr id="130" name="Google Shape;130;p14"/>
            <p:cNvCxnSpPr>
              <a:cxnSpLocks/>
              <a:stCxn id="128" idx="3"/>
            </p:cNvCxnSpPr>
            <p:nvPr/>
          </p:nvCxnSpPr>
          <p:spPr>
            <a:xfrm>
              <a:off x="7766588" y="3815325"/>
              <a:ext cx="2393359" cy="0"/>
            </a:xfrm>
            <a:prstGeom prst="straightConnector1">
              <a:avLst/>
            </a:prstGeom>
            <a:noFill/>
            <a:ln w="19050" cap="flat" cmpd="sng">
              <a:solidFill>
                <a:srgbClr val="AB1842"/>
              </a:solidFill>
              <a:prstDash val="solid"/>
              <a:round/>
              <a:headEnd type="none" w="sm" len="sm"/>
              <a:tailEnd type="triangle" w="med" len="med"/>
            </a:ln>
          </p:spPr>
        </p:cxnSp>
        <p:sp>
          <p:nvSpPr>
            <p:cNvPr id="131" name="Google Shape;131;p14"/>
            <p:cNvSpPr txBox="1"/>
            <p:nvPr/>
          </p:nvSpPr>
          <p:spPr>
            <a:xfrm>
              <a:off x="4888923" y="4375499"/>
              <a:ext cx="216421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Recommendations</a:t>
              </a:r>
              <a:endParaRPr dirty="0"/>
            </a:p>
          </p:txBody>
        </p:sp>
        <p:cxnSp>
          <p:nvCxnSpPr>
            <p:cNvPr id="132" name="Google Shape;132;p14"/>
            <p:cNvCxnSpPr>
              <a:cxnSpLocks/>
              <a:stCxn id="116" idx="6"/>
              <a:endCxn id="131" idx="1"/>
            </p:cNvCxnSpPr>
            <p:nvPr/>
          </p:nvCxnSpPr>
          <p:spPr>
            <a:xfrm>
              <a:off x="2436201" y="4559882"/>
              <a:ext cx="2452722" cy="263"/>
            </a:xfrm>
            <a:prstGeom prst="straightConnector1">
              <a:avLst/>
            </a:prstGeom>
            <a:noFill/>
            <a:ln w="19050" cap="flat" cmpd="sng">
              <a:solidFill>
                <a:srgbClr val="AB1842"/>
              </a:solidFill>
              <a:prstDash val="solid"/>
              <a:round/>
              <a:headEnd type="none" w="sm" len="sm"/>
              <a:tailEnd type="none" w="sm" len="sm"/>
            </a:ln>
          </p:spPr>
        </p:cxnSp>
        <p:cxnSp>
          <p:nvCxnSpPr>
            <p:cNvPr id="133" name="Google Shape;133;p14"/>
            <p:cNvCxnSpPr>
              <a:cxnSpLocks/>
              <a:stCxn id="131" idx="3"/>
            </p:cNvCxnSpPr>
            <p:nvPr/>
          </p:nvCxnSpPr>
          <p:spPr>
            <a:xfrm>
              <a:off x="7053133" y="4560145"/>
              <a:ext cx="3106814" cy="533"/>
            </a:xfrm>
            <a:prstGeom prst="straightConnector1">
              <a:avLst/>
            </a:prstGeom>
            <a:noFill/>
            <a:ln w="19050" cap="flat" cmpd="sng">
              <a:solidFill>
                <a:srgbClr val="AB1842"/>
              </a:solidFill>
              <a:prstDash val="solid"/>
              <a:round/>
              <a:headEnd type="none" w="sm" len="sm"/>
              <a:tailEnd type="triangle" w="med" len="med"/>
            </a:ln>
          </p:spPr>
        </p:cxnSp>
        <p:sp>
          <p:nvSpPr>
            <p:cNvPr id="27" name="Google Shape;116;p14">
              <a:extLst>
                <a:ext uri="{FF2B5EF4-FFF2-40B4-BE49-F238E27FC236}">
                  <a16:creationId xmlns:a16="http://schemas.microsoft.com/office/drawing/2014/main" id="{DF1326A8-EBC6-E22D-EE58-A23ABA51D153}"/>
                </a:ext>
              </a:extLst>
            </p:cNvPr>
            <p:cNvSpPr/>
            <p:nvPr/>
          </p:nvSpPr>
          <p:spPr>
            <a:xfrm>
              <a:off x="1958887" y="5013089"/>
              <a:ext cx="475200" cy="475200"/>
            </a:xfrm>
            <a:prstGeom prst="ellipse">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Rockwell"/>
                  <a:sym typeface="Rockwell"/>
                </a:rPr>
                <a:t>6</a:t>
              </a:r>
              <a:endParaRPr dirty="0"/>
            </a:p>
          </p:txBody>
        </p:sp>
        <p:sp>
          <p:nvSpPr>
            <p:cNvPr id="28" name="Google Shape;131;p14">
              <a:extLst>
                <a:ext uri="{FF2B5EF4-FFF2-40B4-BE49-F238E27FC236}">
                  <a16:creationId xmlns:a16="http://schemas.microsoft.com/office/drawing/2014/main" id="{0DB54E15-80B6-EE0F-5CF5-0593ADFB8198}"/>
                </a:ext>
              </a:extLst>
            </p:cNvPr>
            <p:cNvSpPr txBox="1"/>
            <p:nvPr/>
          </p:nvSpPr>
          <p:spPr>
            <a:xfrm>
              <a:off x="5366198" y="5066306"/>
              <a:ext cx="125862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Appendix</a:t>
              </a:r>
              <a:endParaRPr dirty="0"/>
            </a:p>
          </p:txBody>
        </p:sp>
        <p:cxnSp>
          <p:nvCxnSpPr>
            <p:cNvPr id="29" name="Google Shape;132;p14">
              <a:extLst>
                <a:ext uri="{FF2B5EF4-FFF2-40B4-BE49-F238E27FC236}">
                  <a16:creationId xmlns:a16="http://schemas.microsoft.com/office/drawing/2014/main" id="{5539E11C-EEFD-B6DA-EF45-FF6B51D48EC4}"/>
                </a:ext>
              </a:extLst>
            </p:cNvPr>
            <p:cNvCxnSpPr>
              <a:cxnSpLocks/>
              <a:stCxn id="27" idx="6"/>
              <a:endCxn id="28" idx="1"/>
            </p:cNvCxnSpPr>
            <p:nvPr/>
          </p:nvCxnSpPr>
          <p:spPr>
            <a:xfrm>
              <a:off x="2434087" y="5250689"/>
              <a:ext cx="2932111" cy="263"/>
            </a:xfrm>
            <a:prstGeom prst="straightConnector1">
              <a:avLst/>
            </a:prstGeom>
            <a:noFill/>
            <a:ln w="19050" cap="flat" cmpd="sng">
              <a:solidFill>
                <a:srgbClr val="AB1842"/>
              </a:solidFill>
              <a:prstDash val="solid"/>
              <a:round/>
              <a:headEnd type="none" w="sm" len="sm"/>
              <a:tailEnd type="none" w="sm" len="sm"/>
            </a:ln>
          </p:spPr>
        </p:cxnSp>
        <p:cxnSp>
          <p:nvCxnSpPr>
            <p:cNvPr id="30" name="Google Shape;133;p14">
              <a:extLst>
                <a:ext uri="{FF2B5EF4-FFF2-40B4-BE49-F238E27FC236}">
                  <a16:creationId xmlns:a16="http://schemas.microsoft.com/office/drawing/2014/main" id="{A6152EF4-C3D5-F8C6-9A10-153894F3B92B}"/>
                </a:ext>
              </a:extLst>
            </p:cNvPr>
            <p:cNvCxnSpPr>
              <a:cxnSpLocks/>
              <a:stCxn id="28" idx="3"/>
            </p:cNvCxnSpPr>
            <p:nvPr/>
          </p:nvCxnSpPr>
          <p:spPr>
            <a:xfrm>
              <a:off x="6624826" y="5250952"/>
              <a:ext cx="3533007" cy="533"/>
            </a:xfrm>
            <a:prstGeom prst="straightConnector1">
              <a:avLst/>
            </a:prstGeom>
            <a:noFill/>
            <a:ln w="19050" cap="flat" cmpd="sng">
              <a:solidFill>
                <a:srgbClr val="AB1842"/>
              </a:solidFill>
              <a:prstDash val="solid"/>
              <a:round/>
              <a:headEnd type="none" w="sm" len="sm"/>
              <a:tailEnd type="triangle" w="med" len="me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43"/>
        <p:cNvGrpSpPr/>
        <p:nvPr/>
      </p:nvGrpSpPr>
      <p:grpSpPr>
        <a:xfrm>
          <a:off x="0" y="0"/>
          <a:ext cx="0" cy="0"/>
          <a:chOff x="0" y="0"/>
          <a:chExt cx="0" cy="0"/>
        </a:xfrm>
      </p:grpSpPr>
      <p:cxnSp>
        <p:nvCxnSpPr>
          <p:cNvPr id="144" name="Google Shape;144;p15"/>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45" name="Google Shape;145;p15"/>
          <p:cNvSpPr txBox="1"/>
          <p:nvPr/>
        </p:nvSpPr>
        <p:spPr>
          <a:xfrm>
            <a:off x="165253" y="176270"/>
            <a:ext cx="553046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D82042"/>
                </a:solidFill>
                <a:latin typeface="Rockwell"/>
                <a:ea typeface="Rockwell"/>
                <a:cs typeface="Rockwell"/>
                <a:sym typeface="Rockwell"/>
              </a:rPr>
              <a:t>Overview &amp; Objectives</a:t>
            </a:r>
            <a:endParaRPr/>
          </a:p>
        </p:txBody>
      </p:sp>
      <p:sp>
        <p:nvSpPr>
          <p:cNvPr id="146" name="Google Shape;146;p15"/>
          <p:cNvSpPr txBox="1"/>
          <p:nvPr/>
        </p:nvSpPr>
        <p:spPr>
          <a:xfrm>
            <a:off x="705079" y="1520328"/>
            <a:ext cx="22254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Business Overview</a:t>
            </a:r>
            <a:endParaRPr/>
          </a:p>
        </p:txBody>
      </p:sp>
      <p:cxnSp>
        <p:nvCxnSpPr>
          <p:cNvPr id="147" name="Google Shape;147;p15"/>
          <p:cNvCxnSpPr/>
          <p:nvPr/>
        </p:nvCxnSpPr>
        <p:spPr>
          <a:xfrm>
            <a:off x="782197" y="1889660"/>
            <a:ext cx="2214391" cy="0"/>
          </a:xfrm>
          <a:prstGeom prst="straightConnector1">
            <a:avLst/>
          </a:prstGeom>
          <a:noFill/>
          <a:ln w="19050" cap="flat" cmpd="sng">
            <a:solidFill>
              <a:schemeClr val="accent1"/>
            </a:solidFill>
            <a:prstDash val="solid"/>
            <a:round/>
            <a:headEnd type="none" w="sm" len="sm"/>
            <a:tailEnd type="none" w="sm" len="sm"/>
          </a:ln>
        </p:spPr>
      </p:cxnSp>
      <p:sp>
        <p:nvSpPr>
          <p:cNvPr id="148" name="Google Shape;148;p15"/>
          <p:cNvSpPr txBox="1"/>
          <p:nvPr/>
        </p:nvSpPr>
        <p:spPr>
          <a:xfrm>
            <a:off x="694063" y="3780941"/>
            <a:ext cx="22254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Objectives</a:t>
            </a:r>
            <a:endParaRPr/>
          </a:p>
        </p:txBody>
      </p:sp>
      <p:cxnSp>
        <p:nvCxnSpPr>
          <p:cNvPr id="149" name="Google Shape;149;p15"/>
          <p:cNvCxnSpPr/>
          <p:nvPr/>
        </p:nvCxnSpPr>
        <p:spPr>
          <a:xfrm>
            <a:off x="771181" y="4150273"/>
            <a:ext cx="2214391" cy="0"/>
          </a:xfrm>
          <a:prstGeom prst="straightConnector1">
            <a:avLst/>
          </a:prstGeom>
          <a:noFill/>
          <a:ln w="19050" cap="flat" cmpd="sng">
            <a:solidFill>
              <a:schemeClr val="accent1"/>
            </a:solidFill>
            <a:prstDash val="solid"/>
            <a:round/>
            <a:headEnd type="none" w="sm" len="sm"/>
            <a:tailEnd type="none" w="sm" len="sm"/>
          </a:ln>
        </p:spPr>
      </p:cxnSp>
      <p:sp>
        <p:nvSpPr>
          <p:cNvPr id="150" name="Google Shape;150;p15"/>
          <p:cNvSpPr txBox="1"/>
          <p:nvPr/>
        </p:nvSpPr>
        <p:spPr>
          <a:xfrm>
            <a:off x="716095" y="2016087"/>
            <a:ext cx="10950766" cy="13234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600" dirty="0" err="1">
                <a:solidFill>
                  <a:srgbClr val="3F3F3F"/>
                </a:solidFill>
                <a:latin typeface="Calibri"/>
                <a:ea typeface="Calibri"/>
                <a:cs typeface="Calibri"/>
                <a:sym typeface="Calibri"/>
              </a:rPr>
              <a:t>Namma</a:t>
            </a:r>
            <a:r>
              <a:rPr lang="en-US" sz="1600" dirty="0">
                <a:solidFill>
                  <a:srgbClr val="3F3F3F"/>
                </a:solidFill>
                <a:latin typeface="Calibri"/>
                <a:ea typeface="Calibri"/>
                <a:cs typeface="Calibri"/>
                <a:sym typeface="Calibri"/>
              </a:rPr>
              <a:t> </a:t>
            </a:r>
            <a:r>
              <a:rPr lang="en-US" sz="1600" dirty="0">
                <a:solidFill>
                  <a:schemeClr val="tx1">
                    <a:lumMod val="75000"/>
                    <a:lumOff val="25000"/>
                  </a:schemeClr>
                </a:solidFill>
                <a:latin typeface="Calibri"/>
                <a:ea typeface="Calibri"/>
                <a:cs typeface="Calibri"/>
                <a:sym typeface="Calibri"/>
              </a:rPr>
              <a:t>Yatri plays a pivotal role in Bengaluru’s urban transport network. Operating in a dynamic environment, the company must continuously adapt to shifting demand patterns, optimize ride allocation, and maintain profitability — all while delivering a superior customer experience</a:t>
            </a:r>
            <a:r>
              <a:rPr lang="en-US" sz="1600" dirty="0">
                <a:solidFill>
                  <a:srgbClr val="3F3F3F"/>
                </a:solidFill>
                <a:latin typeface="Calibri"/>
                <a:ea typeface="Calibri"/>
                <a:cs typeface="Calibri"/>
                <a:sym typeface="Calibri"/>
              </a:rPr>
              <a:t>. To support this, </a:t>
            </a:r>
            <a:r>
              <a:rPr lang="en-US" sz="1600" dirty="0" err="1">
                <a:solidFill>
                  <a:srgbClr val="3F3F3F"/>
                </a:solidFill>
                <a:latin typeface="Calibri"/>
                <a:ea typeface="Calibri"/>
                <a:cs typeface="Calibri"/>
                <a:sym typeface="Calibri"/>
              </a:rPr>
              <a:t>Namma</a:t>
            </a:r>
            <a:r>
              <a:rPr lang="en-US" sz="1600" dirty="0">
                <a:solidFill>
                  <a:srgbClr val="3F3F3F"/>
                </a:solidFill>
                <a:latin typeface="Calibri"/>
                <a:ea typeface="Calibri"/>
                <a:cs typeface="Calibri"/>
                <a:sym typeface="Calibri"/>
              </a:rPr>
              <a:t> Yatri aims to deepen its understanding of ride patterns, customer behavior, and operational bottlenecks.</a:t>
            </a:r>
            <a:endParaRPr dirty="0"/>
          </a:p>
          <a:p>
            <a:pPr marL="0" marR="0" lvl="0" indent="0" algn="l" rtl="0">
              <a:spcBef>
                <a:spcPts val="0"/>
              </a:spcBef>
              <a:spcAft>
                <a:spcPts val="0"/>
              </a:spcAft>
              <a:buNone/>
            </a:pPr>
            <a:endParaRPr sz="1600" dirty="0">
              <a:solidFill>
                <a:srgbClr val="3F3F3F"/>
              </a:solidFill>
              <a:latin typeface="Calibri"/>
              <a:ea typeface="Calibri"/>
              <a:cs typeface="Calibri"/>
              <a:sym typeface="Calibri"/>
            </a:endParaRPr>
          </a:p>
        </p:txBody>
      </p:sp>
      <p:sp>
        <p:nvSpPr>
          <p:cNvPr id="151" name="Google Shape;151;p15"/>
          <p:cNvSpPr txBox="1"/>
          <p:nvPr/>
        </p:nvSpPr>
        <p:spPr>
          <a:xfrm>
            <a:off x="705079" y="4228042"/>
            <a:ext cx="10950766" cy="17620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600" dirty="0">
                <a:solidFill>
                  <a:srgbClr val="3F3F3F"/>
                </a:solidFill>
                <a:latin typeface="Calibri"/>
                <a:ea typeface="Calibri"/>
                <a:cs typeface="Calibri"/>
                <a:sym typeface="Calibri"/>
              </a:rPr>
              <a:t>The objective is to uncover insights that can guide decisions to improve service efficiency, maximize revenue, and enhance customer satisfaction through:</a:t>
            </a:r>
            <a:endParaRPr dirty="0"/>
          </a:p>
          <a:p>
            <a:pPr marL="285750" marR="0" lvl="0" indent="-285750" algn="just" rtl="0">
              <a:spcBef>
                <a:spcPts val="6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Identifying peak demand patterns and trends</a:t>
            </a:r>
            <a:endParaRPr dirty="0"/>
          </a:p>
          <a:p>
            <a:pPr marL="285750" marR="0" lvl="0" indent="-285750" algn="just"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Uncovering factors influencing cancellations and driver performance</a:t>
            </a:r>
            <a:endParaRPr dirty="0"/>
          </a:p>
          <a:p>
            <a:pPr marL="285750" marR="0" lvl="0" indent="-285750" algn="just"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Optimizing payment methods and trip durations</a:t>
            </a:r>
            <a:endParaRPr dirty="0"/>
          </a:p>
          <a:p>
            <a:pPr marL="285750" marR="0" lvl="0" indent="-285750" algn="just"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Improving resource allocation and marketing strategies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55"/>
        <p:cNvGrpSpPr/>
        <p:nvPr/>
      </p:nvGrpSpPr>
      <p:grpSpPr>
        <a:xfrm>
          <a:off x="0" y="0"/>
          <a:ext cx="0" cy="0"/>
          <a:chOff x="0" y="0"/>
          <a:chExt cx="0" cy="0"/>
        </a:xfrm>
      </p:grpSpPr>
      <p:cxnSp>
        <p:nvCxnSpPr>
          <p:cNvPr id="156" name="Google Shape;156;p16"/>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57" name="Google Shape;157;p16"/>
          <p:cNvSpPr txBox="1"/>
          <p:nvPr/>
        </p:nvSpPr>
        <p:spPr>
          <a:xfrm>
            <a:off x="165253" y="176270"/>
            <a:ext cx="683045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D82042"/>
                </a:solidFill>
                <a:latin typeface="Rockwell"/>
                <a:ea typeface="Rockwell"/>
                <a:cs typeface="Rockwell"/>
                <a:sym typeface="Rockwell"/>
              </a:rPr>
              <a:t>Background – Initial observations</a:t>
            </a:r>
            <a:endParaRPr/>
          </a:p>
        </p:txBody>
      </p:sp>
      <p:sp>
        <p:nvSpPr>
          <p:cNvPr id="158" name="Google Shape;158;p16"/>
          <p:cNvSpPr txBox="1"/>
          <p:nvPr/>
        </p:nvSpPr>
        <p:spPr>
          <a:xfrm>
            <a:off x="609601" y="2100888"/>
            <a:ext cx="22254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Background</a:t>
            </a:r>
            <a:endParaRPr/>
          </a:p>
        </p:txBody>
      </p:sp>
      <p:cxnSp>
        <p:nvCxnSpPr>
          <p:cNvPr id="159" name="Google Shape;159;p16"/>
          <p:cNvCxnSpPr/>
          <p:nvPr/>
        </p:nvCxnSpPr>
        <p:spPr>
          <a:xfrm>
            <a:off x="686719" y="2470220"/>
            <a:ext cx="2214391" cy="0"/>
          </a:xfrm>
          <a:prstGeom prst="straightConnector1">
            <a:avLst/>
          </a:prstGeom>
          <a:noFill/>
          <a:ln w="19050" cap="flat" cmpd="sng">
            <a:solidFill>
              <a:schemeClr val="accent1"/>
            </a:solidFill>
            <a:prstDash val="solid"/>
            <a:round/>
            <a:headEnd type="none" w="sm" len="sm"/>
            <a:tailEnd type="none" w="sm" len="sm"/>
          </a:ln>
        </p:spPr>
      </p:cxnSp>
      <p:sp>
        <p:nvSpPr>
          <p:cNvPr id="160" name="Google Shape;160;p16"/>
          <p:cNvSpPr txBox="1"/>
          <p:nvPr/>
        </p:nvSpPr>
        <p:spPr>
          <a:xfrm>
            <a:off x="620617" y="2547989"/>
            <a:ext cx="10950766"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Peak demand patterns and trends – Afternoon and Forenoon</a:t>
            </a:r>
            <a:endParaRPr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Cancellation rate stands at 23%</a:t>
            </a:r>
            <a:endParaRPr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Driver performance – 88%</a:t>
            </a:r>
            <a:endParaRPr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Payment method – Digital payments 74%</a:t>
            </a:r>
            <a:endParaRPr dirty="0"/>
          </a:p>
          <a:p>
            <a:pPr marL="285750" indent="-285750">
              <a:spcBef>
                <a:spcPts val="300"/>
              </a:spcBef>
              <a:buClr>
                <a:srgbClr val="AB1842"/>
              </a:buClr>
              <a:buSzPts val="1360"/>
              <a:buFont typeface="Noto Sans Symbols"/>
              <a:buChar char="❑"/>
            </a:pPr>
            <a:r>
              <a:rPr lang="en-US" sz="1600" dirty="0">
                <a:solidFill>
                  <a:srgbClr val="3F3F3F"/>
                </a:solidFill>
                <a:latin typeface="Calibri"/>
                <a:ea typeface="Calibri"/>
                <a:cs typeface="Calibri"/>
                <a:sym typeface="Calibri"/>
              </a:rPr>
              <a:t>Low Conversion rate – 45%</a:t>
            </a:r>
            <a:endParaRPr sz="1600" dirty="0">
              <a:solidFill>
                <a:srgbClr val="3F3F3F"/>
              </a:solidFill>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64">
          <a:extLst>
            <a:ext uri="{FF2B5EF4-FFF2-40B4-BE49-F238E27FC236}">
              <a16:creationId xmlns:a16="http://schemas.microsoft.com/office/drawing/2014/main" id="{E8D578AB-E69F-D031-EFE5-683374E7F460}"/>
            </a:ext>
          </a:extLst>
        </p:cNvPr>
        <p:cNvGrpSpPr/>
        <p:nvPr/>
      </p:nvGrpSpPr>
      <p:grpSpPr>
        <a:xfrm>
          <a:off x="0" y="0"/>
          <a:ext cx="0" cy="0"/>
          <a:chOff x="0" y="0"/>
          <a:chExt cx="0" cy="0"/>
        </a:xfrm>
      </p:grpSpPr>
      <p:cxnSp>
        <p:nvCxnSpPr>
          <p:cNvPr id="165" name="Google Shape;165;p17">
            <a:extLst>
              <a:ext uri="{FF2B5EF4-FFF2-40B4-BE49-F238E27FC236}">
                <a16:creationId xmlns:a16="http://schemas.microsoft.com/office/drawing/2014/main" id="{23B04030-CD1C-FC92-91AD-641C16DB1DE6}"/>
              </a:ext>
            </a:extLst>
          </p:cNvPr>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66" name="Google Shape;166;p17">
            <a:extLst>
              <a:ext uri="{FF2B5EF4-FFF2-40B4-BE49-F238E27FC236}">
                <a16:creationId xmlns:a16="http://schemas.microsoft.com/office/drawing/2014/main" id="{305B1FB0-AC8A-15D5-CAB5-58E6D974908E}"/>
              </a:ext>
            </a:extLst>
          </p:cNvPr>
          <p:cNvSpPr txBox="1"/>
          <p:nvPr/>
        </p:nvSpPr>
        <p:spPr>
          <a:xfrm>
            <a:off x="165252" y="176270"/>
            <a:ext cx="1169991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D82042"/>
                </a:solidFill>
                <a:latin typeface="Rockwell"/>
                <a:ea typeface="Rockwell"/>
                <a:cs typeface="Rockwell"/>
                <a:sym typeface="Rockwell"/>
              </a:rPr>
              <a:t>42% of revenue is generated during business hours</a:t>
            </a:r>
            <a:endParaRPr/>
          </a:p>
        </p:txBody>
      </p:sp>
      <p:sp>
        <p:nvSpPr>
          <p:cNvPr id="168" name="Google Shape;168;p17">
            <a:extLst>
              <a:ext uri="{FF2B5EF4-FFF2-40B4-BE49-F238E27FC236}">
                <a16:creationId xmlns:a16="http://schemas.microsoft.com/office/drawing/2014/main" id="{C3B07269-11A8-7388-0AD3-1C7E327AC0AF}"/>
              </a:ext>
            </a:extLst>
          </p:cNvPr>
          <p:cNvSpPr txBox="1"/>
          <p:nvPr/>
        </p:nvSpPr>
        <p:spPr>
          <a:xfrm>
            <a:off x="395464" y="1936924"/>
            <a:ext cx="6270732" cy="9079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Maximum trips &amp; revenue are between </a:t>
            </a:r>
            <a:r>
              <a:rPr lang="en-US" sz="1600" b="1" dirty="0">
                <a:solidFill>
                  <a:srgbClr val="3F3F3F"/>
                </a:solidFill>
                <a:latin typeface="Calibri"/>
                <a:ea typeface="Calibri"/>
                <a:cs typeface="Calibri"/>
                <a:sym typeface="Calibri"/>
              </a:rPr>
              <a:t>7 AM to 5 PM</a:t>
            </a:r>
            <a:endParaRPr b="1"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Time slot Midnight to </a:t>
            </a:r>
            <a:r>
              <a:rPr lang="en-US" sz="1600" b="1" dirty="0">
                <a:solidFill>
                  <a:srgbClr val="3F3F3F"/>
                </a:solidFill>
                <a:latin typeface="Calibri"/>
                <a:ea typeface="Calibri"/>
                <a:cs typeface="Calibri"/>
                <a:sym typeface="Calibri"/>
              </a:rPr>
              <a:t>1 AM </a:t>
            </a:r>
            <a:r>
              <a:rPr lang="en-US" sz="1600" dirty="0">
                <a:solidFill>
                  <a:srgbClr val="3F3F3F"/>
                </a:solidFill>
                <a:latin typeface="Calibri"/>
                <a:ea typeface="Calibri"/>
                <a:cs typeface="Calibri"/>
                <a:sym typeface="Calibri"/>
              </a:rPr>
              <a:t>has the highest hourly revenue – </a:t>
            </a:r>
            <a:r>
              <a:rPr lang="en-US" sz="1600" b="1" dirty="0">
                <a:solidFill>
                  <a:srgbClr val="3F3F3F"/>
                </a:solidFill>
                <a:latin typeface="Calibri"/>
                <a:ea typeface="Calibri"/>
                <a:cs typeface="Calibri"/>
                <a:sym typeface="Calibri"/>
              </a:rPr>
              <a:t>45K</a:t>
            </a:r>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Bottom 5 pickup zones contribute only </a:t>
            </a:r>
            <a:r>
              <a:rPr lang="en-US" sz="1600" b="1" dirty="0">
                <a:solidFill>
                  <a:srgbClr val="3F3F3F"/>
                </a:solidFill>
                <a:latin typeface="Calibri"/>
                <a:ea typeface="Calibri"/>
                <a:cs typeface="Calibri"/>
                <a:sym typeface="Calibri"/>
              </a:rPr>
              <a:t>9.3% (69.5K)</a:t>
            </a:r>
            <a:r>
              <a:rPr lang="en-US" sz="1600" dirty="0">
                <a:solidFill>
                  <a:srgbClr val="3F3F3F"/>
                </a:solidFill>
                <a:latin typeface="Calibri"/>
                <a:ea typeface="Calibri"/>
                <a:cs typeface="Calibri"/>
                <a:sym typeface="Calibri"/>
              </a:rPr>
              <a:t> of total revenue</a:t>
            </a:r>
            <a:endParaRPr dirty="0"/>
          </a:p>
        </p:txBody>
      </p:sp>
      <p:sp>
        <p:nvSpPr>
          <p:cNvPr id="169" name="Google Shape;169;p17">
            <a:extLst>
              <a:ext uri="{FF2B5EF4-FFF2-40B4-BE49-F238E27FC236}">
                <a16:creationId xmlns:a16="http://schemas.microsoft.com/office/drawing/2014/main" id="{01F029EA-CFFA-2348-E55C-27C8DBAFA2D8}"/>
              </a:ext>
            </a:extLst>
          </p:cNvPr>
          <p:cNvSpPr txBox="1"/>
          <p:nvPr/>
        </p:nvSpPr>
        <p:spPr>
          <a:xfrm>
            <a:off x="370449" y="1446599"/>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Insights</a:t>
            </a:r>
            <a:endParaRPr/>
          </a:p>
        </p:txBody>
      </p:sp>
      <p:cxnSp>
        <p:nvCxnSpPr>
          <p:cNvPr id="170" name="Google Shape;170;p17">
            <a:extLst>
              <a:ext uri="{FF2B5EF4-FFF2-40B4-BE49-F238E27FC236}">
                <a16:creationId xmlns:a16="http://schemas.microsoft.com/office/drawing/2014/main" id="{A64ECC0A-1861-BE2D-37DF-9945A31ACE11}"/>
              </a:ext>
            </a:extLst>
          </p:cNvPr>
          <p:cNvCxnSpPr/>
          <p:nvPr/>
        </p:nvCxnSpPr>
        <p:spPr>
          <a:xfrm>
            <a:off x="436550" y="1815931"/>
            <a:ext cx="2214300" cy="0"/>
          </a:xfrm>
          <a:prstGeom prst="straightConnector1">
            <a:avLst/>
          </a:prstGeom>
          <a:noFill/>
          <a:ln w="19050" cap="flat" cmpd="sng">
            <a:solidFill>
              <a:schemeClr val="accent1"/>
            </a:solidFill>
            <a:prstDash val="solid"/>
            <a:round/>
            <a:headEnd type="none" w="sm" len="sm"/>
            <a:tailEnd type="none" w="sm" len="sm"/>
          </a:ln>
        </p:spPr>
      </p:cxnSp>
      <p:pic>
        <p:nvPicPr>
          <p:cNvPr id="6" name="Picture 5">
            <a:extLst>
              <a:ext uri="{FF2B5EF4-FFF2-40B4-BE49-F238E27FC236}">
                <a16:creationId xmlns:a16="http://schemas.microsoft.com/office/drawing/2014/main" id="{0296A016-D690-D962-716F-28CAD00B9DCD}"/>
              </a:ext>
            </a:extLst>
          </p:cNvPr>
          <p:cNvPicPr>
            <a:picLocks noChangeAspect="1"/>
          </p:cNvPicPr>
          <p:nvPr/>
        </p:nvPicPr>
        <p:blipFill>
          <a:blip r:embed="rId3"/>
          <a:srcRect l="927" t="1638" r="1727" b="2885"/>
          <a:stretch/>
        </p:blipFill>
        <p:spPr>
          <a:xfrm>
            <a:off x="6799084" y="1054692"/>
            <a:ext cx="4956366" cy="2325914"/>
          </a:xfrm>
          <a:prstGeom prst="rect">
            <a:avLst/>
          </a:prstGeom>
        </p:spPr>
      </p:pic>
      <p:pic>
        <p:nvPicPr>
          <p:cNvPr id="10" name="Picture 9">
            <a:extLst>
              <a:ext uri="{FF2B5EF4-FFF2-40B4-BE49-F238E27FC236}">
                <a16:creationId xmlns:a16="http://schemas.microsoft.com/office/drawing/2014/main" id="{BE32D5CA-5BA1-C2AE-C84F-4484CE52A704}"/>
              </a:ext>
            </a:extLst>
          </p:cNvPr>
          <p:cNvPicPr>
            <a:picLocks noChangeAspect="1"/>
          </p:cNvPicPr>
          <p:nvPr/>
        </p:nvPicPr>
        <p:blipFill>
          <a:blip r:embed="rId4"/>
          <a:srcRect l="474" t="1998" r="341" b="1397"/>
          <a:stretch/>
        </p:blipFill>
        <p:spPr>
          <a:xfrm>
            <a:off x="436550" y="3531316"/>
            <a:ext cx="11318900" cy="2413620"/>
          </a:xfrm>
          <a:prstGeom prst="rect">
            <a:avLst/>
          </a:prstGeom>
        </p:spPr>
      </p:pic>
    </p:spTree>
    <p:extLst>
      <p:ext uri="{BB962C8B-B14F-4D97-AF65-F5344CB8AC3E}">
        <p14:creationId xmlns:p14="http://schemas.microsoft.com/office/powerpoint/2010/main" val="2559117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64"/>
        <p:cNvGrpSpPr/>
        <p:nvPr/>
      </p:nvGrpSpPr>
      <p:grpSpPr>
        <a:xfrm>
          <a:off x="0" y="0"/>
          <a:ext cx="0" cy="0"/>
          <a:chOff x="0" y="0"/>
          <a:chExt cx="0" cy="0"/>
        </a:xfrm>
      </p:grpSpPr>
      <p:cxnSp>
        <p:nvCxnSpPr>
          <p:cNvPr id="165" name="Google Shape;165;p17"/>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66" name="Google Shape;166;p17"/>
          <p:cNvSpPr txBox="1"/>
          <p:nvPr/>
        </p:nvSpPr>
        <p:spPr>
          <a:xfrm>
            <a:off x="165252" y="176270"/>
            <a:ext cx="1169991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rgbClr val="D82042"/>
                </a:solidFill>
                <a:latin typeface="Rockwell"/>
                <a:ea typeface="Rockwell"/>
                <a:cs typeface="Rockwell"/>
                <a:sym typeface="Rockwell"/>
              </a:rPr>
              <a:t>High fare duration slots remain underutilized</a:t>
            </a:r>
            <a:endParaRPr dirty="0"/>
          </a:p>
        </p:txBody>
      </p:sp>
      <p:sp>
        <p:nvSpPr>
          <p:cNvPr id="168" name="Google Shape;168;p17"/>
          <p:cNvSpPr txBox="1"/>
          <p:nvPr/>
        </p:nvSpPr>
        <p:spPr>
          <a:xfrm>
            <a:off x="395464" y="1482792"/>
            <a:ext cx="11469701" cy="212361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600"/>
              </a:spcAft>
              <a:buClr>
                <a:srgbClr val="AB1842"/>
              </a:buClr>
              <a:buSzPts val="1360"/>
              <a:buFont typeface="Noto Sans Symbols"/>
              <a:buChar cha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sym typeface="Calibri"/>
              </a:rPr>
              <a:t>Top 5 durations - average fare wise: - 16-17, 19-20, 0-1, 6-7, 22-23</a:t>
            </a:r>
          </a:p>
          <a:p>
            <a:pPr marL="285750" marR="0" lvl="0" indent="-285750" algn="l" rtl="0">
              <a:spcBef>
                <a:spcPts val="0"/>
              </a:spcBef>
              <a:spcAft>
                <a:spcPts val="600"/>
              </a:spcAft>
              <a:buClr>
                <a:srgbClr val="AB1842"/>
              </a:buClr>
              <a:buSzPts val="1360"/>
              <a:buFont typeface="Noto Sans Symbols"/>
              <a:buChar cha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Early Morning Peak: 0-1 hour (12 AM - 1 AM) has the highest trip completion (849).</a:t>
            </a:r>
          </a:p>
          <a:p>
            <a:pPr marL="285750" marR="0" lvl="0" indent="-285750" algn="l" rtl="0">
              <a:spcBef>
                <a:spcPts val="0"/>
              </a:spcBef>
              <a:spcAft>
                <a:spcPts val="600"/>
              </a:spcAft>
              <a:buClr>
                <a:srgbClr val="AB1842"/>
              </a:buClr>
              <a:buSzPts val="1360"/>
              <a:buFont typeface="Noto Sans Symbols"/>
              <a:buChar cha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Stable Fares: Average trip fare remains consistently similar regardless of trip volume.</a:t>
            </a:r>
          </a:p>
          <a:p>
            <a:pPr marL="285750" marR="0" lvl="0" indent="-285750" algn="l" rtl="0">
              <a:spcBef>
                <a:spcPts val="0"/>
              </a:spcBef>
              <a:spcAft>
                <a:spcPts val="600"/>
              </a:spcAft>
              <a:buClr>
                <a:srgbClr val="AB1842"/>
              </a:buClr>
              <a:buSzPts val="1360"/>
              <a:buFont typeface="Noto Sans Symbols"/>
              <a:buChar cha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Mid-Day/Late-Night Dips: Trip completion is lowest during mid-day and late-night hours.</a:t>
            </a:r>
          </a:p>
          <a:p>
            <a:pPr marL="285750" marR="0" lvl="0" indent="-285750" algn="l" rtl="0">
              <a:spcBef>
                <a:spcPts val="0"/>
              </a:spcBef>
              <a:spcAft>
                <a:spcPts val="0"/>
              </a:spcAft>
              <a:buClr>
                <a:srgbClr val="AB1842"/>
              </a:buClr>
              <a:buSzPts val="1360"/>
              <a:buFont typeface="Noto Sans Symbols"/>
              <a:buChar cha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Fare Spikes During Off-Peak Hours: While overall fares are stable, the "Avg Trip Fare" experiences noticeable increases during 16-17, 19-20, and 4-5 hours. These are times when "Total Trips Completed" are relatively lower compared to the peak, suggesting potential surge pricing or higher value trips during these less busy periods.</a:t>
            </a:r>
            <a:endParaRPr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69" name="Google Shape;169;p17"/>
          <p:cNvSpPr txBox="1"/>
          <p:nvPr/>
        </p:nvSpPr>
        <p:spPr>
          <a:xfrm>
            <a:off x="370449" y="997421"/>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Insights</a:t>
            </a:r>
            <a:endParaRPr dirty="0"/>
          </a:p>
        </p:txBody>
      </p:sp>
      <p:cxnSp>
        <p:nvCxnSpPr>
          <p:cNvPr id="170" name="Google Shape;170;p17"/>
          <p:cNvCxnSpPr/>
          <p:nvPr/>
        </p:nvCxnSpPr>
        <p:spPr>
          <a:xfrm>
            <a:off x="436550" y="1366753"/>
            <a:ext cx="2214300" cy="0"/>
          </a:xfrm>
          <a:prstGeom prst="straightConnector1">
            <a:avLst/>
          </a:prstGeom>
          <a:noFill/>
          <a:ln w="19050" cap="flat" cmpd="sng">
            <a:solidFill>
              <a:schemeClr val="accent1"/>
            </a:solidFill>
            <a:prstDash val="solid"/>
            <a:round/>
            <a:headEnd type="none" w="sm" len="sm"/>
            <a:tailEnd type="none" w="sm" len="sm"/>
          </a:ln>
        </p:spPr>
      </p:cxnSp>
      <p:grpSp>
        <p:nvGrpSpPr>
          <p:cNvPr id="2" name="Group 1">
            <a:extLst>
              <a:ext uri="{FF2B5EF4-FFF2-40B4-BE49-F238E27FC236}">
                <a16:creationId xmlns:a16="http://schemas.microsoft.com/office/drawing/2014/main" id="{E1FE35DE-A6F5-26C1-B650-1B4A08B7399F}"/>
              </a:ext>
            </a:extLst>
          </p:cNvPr>
          <p:cNvGrpSpPr/>
          <p:nvPr/>
        </p:nvGrpSpPr>
        <p:grpSpPr>
          <a:xfrm>
            <a:off x="370449" y="3753396"/>
            <a:ext cx="11639843" cy="2999093"/>
            <a:chOff x="370449" y="3753396"/>
            <a:chExt cx="11639843" cy="2999093"/>
          </a:xfrm>
        </p:grpSpPr>
        <p:pic>
          <p:nvPicPr>
            <p:cNvPr id="8" name="Picture 7">
              <a:extLst>
                <a:ext uri="{FF2B5EF4-FFF2-40B4-BE49-F238E27FC236}">
                  <a16:creationId xmlns:a16="http://schemas.microsoft.com/office/drawing/2014/main" id="{02927D86-C3F0-4CA3-BC23-06373D7EEE59}"/>
                </a:ext>
              </a:extLst>
            </p:cNvPr>
            <p:cNvPicPr>
              <a:picLocks noChangeAspect="1"/>
            </p:cNvPicPr>
            <p:nvPr/>
          </p:nvPicPr>
          <p:blipFill>
            <a:blip r:embed="rId3"/>
            <a:srcRect t="1180"/>
            <a:stretch/>
          </p:blipFill>
          <p:spPr>
            <a:xfrm>
              <a:off x="370449" y="3753396"/>
              <a:ext cx="11639843" cy="2999093"/>
            </a:xfrm>
            <a:prstGeom prst="rect">
              <a:avLst/>
            </a:prstGeom>
          </p:spPr>
        </p:pic>
        <p:sp>
          <p:nvSpPr>
            <p:cNvPr id="9" name="Rectangle 8">
              <a:extLst>
                <a:ext uri="{FF2B5EF4-FFF2-40B4-BE49-F238E27FC236}">
                  <a16:creationId xmlns:a16="http://schemas.microsoft.com/office/drawing/2014/main" id="{D8E1A94E-6A28-1608-94B9-0D043A3BC935}"/>
                </a:ext>
              </a:extLst>
            </p:cNvPr>
            <p:cNvSpPr/>
            <p:nvPr/>
          </p:nvSpPr>
          <p:spPr>
            <a:xfrm>
              <a:off x="8734582" y="4492601"/>
              <a:ext cx="1317379" cy="2015238"/>
            </a:xfrm>
            <a:prstGeom prst="rect">
              <a:avLst/>
            </a:prstGeom>
            <a:noFill/>
            <a:ln w="57150">
              <a:solidFill>
                <a:srgbClr val="4D955B"/>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77"/>
        <p:cNvGrpSpPr/>
        <p:nvPr/>
      </p:nvGrpSpPr>
      <p:grpSpPr>
        <a:xfrm>
          <a:off x="0" y="0"/>
          <a:ext cx="0" cy="0"/>
          <a:chOff x="0" y="0"/>
          <a:chExt cx="0" cy="0"/>
        </a:xfrm>
      </p:grpSpPr>
      <p:cxnSp>
        <p:nvCxnSpPr>
          <p:cNvPr id="178" name="Google Shape;178;p18"/>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79" name="Google Shape;179;p18"/>
          <p:cNvSpPr txBox="1"/>
          <p:nvPr/>
        </p:nvSpPr>
        <p:spPr>
          <a:xfrm>
            <a:off x="165252" y="176270"/>
            <a:ext cx="1169991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D82042"/>
                </a:solidFill>
                <a:latin typeface="Rockwell"/>
                <a:ea typeface="Rockwell"/>
                <a:cs typeface="Rockwell"/>
                <a:sym typeface="Rockwell"/>
              </a:rPr>
              <a:t>33% of our drivers are performing below average</a:t>
            </a:r>
            <a:endParaRPr/>
          </a:p>
        </p:txBody>
      </p:sp>
      <p:sp>
        <p:nvSpPr>
          <p:cNvPr id="181" name="Google Shape;181;p18"/>
          <p:cNvSpPr txBox="1"/>
          <p:nvPr/>
        </p:nvSpPr>
        <p:spPr>
          <a:xfrm>
            <a:off x="539953" y="1452971"/>
            <a:ext cx="4102800" cy="11928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Average Revenue per driver – </a:t>
            </a:r>
            <a:r>
              <a:rPr lang="en-US" sz="1600" b="1" dirty="0">
                <a:solidFill>
                  <a:srgbClr val="3F3F3F"/>
                </a:solidFill>
                <a:latin typeface="Calibri"/>
                <a:ea typeface="Calibri"/>
                <a:cs typeface="Calibri"/>
                <a:sym typeface="Calibri"/>
              </a:rPr>
              <a:t>3.3% (25K)</a:t>
            </a:r>
            <a:endParaRPr b="1"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Drivers below average revenue – </a:t>
            </a:r>
            <a:r>
              <a:rPr lang="en-US" sz="1600" b="1" dirty="0">
                <a:solidFill>
                  <a:srgbClr val="3F3F3F"/>
                </a:solidFill>
                <a:latin typeface="Calibri"/>
                <a:ea typeface="Calibri"/>
                <a:cs typeface="Calibri"/>
                <a:sym typeface="Calibri"/>
              </a:rPr>
              <a:t>33% (10)</a:t>
            </a:r>
            <a:endParaRPr b="1"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Top 3 drivers – 12, 8 and 21</a:t>
            </a:r>
            <a:endParaRPr dirty="0"/>
          </a:p>
          <a:p>
            <a:pPr marL="285750" marR="0" lvl="0" indent="-285750" algn="l" rtl="0">
              <a:spcBef>
                <a:spcPts val="300"/>
              </a:spcBef>
              <a:spcAft>
                <a:spcPts val="0"/>
              </a:spcAft>
              <a:buClr>
                <a:srgbClr val="AB1842"/>
              </a:buClr>
              <a:buSzPts val="1360"/>
              <a:buFont typeface="Noto Sans Symbols"/>
              <a:buChar char="❑"/>
            </a:pPr>
            <a:r>
              <a:rPr lang="en-US" sz="1600" dirty="0">
                <a:solidFill>
                  <a:srgbClr val="3F3F3F"/>
                </a:solidFill>
                <a:latin typeface="Calibri"/>
                <a:ea typeface="Calibri"/>
                <a:cs typeface="Calibri"/>
                <a:sym typeface="Calibri"/>
              </a:rPr>
              <a:t>Bottom 3 drivers – 18, 23 and 11</a:t>
            </a:r>
            <a:endParaRPr dirty="0"/>
          </a:p>
        </p:txBody>
      </p:sp>
      <p:sp>
        <p:nvSpPr>
          <p:cNvPr id="182" name="Google Shape;182;p18"/>
          <p:cNvSpPr txBox="1"/>
          <p:nvPr/>
        </p:nvSpPr>
        <p:spPr>
          <a:xfrm>
            <a:off x="609601" y="988184"/>
            <a:ext cx="22254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Insights</a:t>
            </a:r>
            <a:endParaRPr/>
          </a:p>
        </p:txBody>
      </p:sp>
      <p:cxnSp>
        <p:nvCxnSpPr>
          <p:cNvPr id="183" name="Google Shape;183;p18"/>
          <p:cNvCxnSpPr/>
          <p:nvPr/>
        </p:nvCxnSpPr>
        <p:spPr>
          <a:xfrm>
            <a:off x="686719" y="1357516"/>
            <a:ext cx="2214391" cy="0"/>
          </a:xfrm>
          <a:prstGeom prst="straightConnector1">
            <a:avLst/>
          </a:prstGeom>
          <a:noFill/>
          <a:ln w="19050" cap="flat" cmpd="sng">
            <a:solidFill>
              <a:schemeClr val="accent1"/>
            </a:solidFill>
            <a:prstDash val="solid"/>
            <a:round/>
            <a:headEnd type="none" w="sm" len="sm"/>
            <a:tailEnd type="none" w="sm" len="sm"/>
          </a:ln>
        </p:spPr>
      </p:cxnSp>
      <p:pic>
        <p:nvPicPr>
          <p:cNvPr id="3" name="Picture 2">
            <a:extLst>
              <a:ext uri="{FF2B5EF4-FFF2-40B4-BE49-F238E27FC236}">
                <a16:creationId xmlns:a16="http://schemas.microsoft.com/office/drawing/2014/main" id="{F4FC0262-E32B-A7FF-6469-AA07BCF55A42}"/>
              </a:ext>
            </a:extLst>
          </p:cNvPr>
          <p:cNvPicPr>
            <a:picLocks noChangeAspect="1"/>
          </p:cNvPicPr>
          <p:nvPr/>
        </p:nvPicPr>
        <p:blipFill>
          <a:blip r:embed="rId3"/>
          <a:srcRect l="316" t="1558" r="318" b="1122"/>
          <a:stretch/>
        </p:blipFill>
        <p:spPr>
          <a:xfrm>
            <a:off x="574766" y="3156857"/>
            <a:ext cx="10955384" cy="2952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90"/>
        <p:cNvGrpSpPr/>
        <p:nvPr/>
      </p:nvGrpSpPr>
      <p:grpSpPr>
        <a:xfrm>
          <a:off x="0" y="0"/>
          <a:ext cx="0" cy="0"/>
          <a:chOff x="0" y="0"/>
          <a:chExt cx="0" cy="0"/>
        </a:xfrm>
      </p:grpSpPr>
      <p:cxnSp>
        <p:nvCxnSpPr>
          <p:cNvPr id="191" name="Google Shape;191;p19"/>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92" name="Google Shape;192;p19"/>
          <p:cNvSpPr txBox="1"/>
          <p:nvPr/>
        </p:nvSpPr>
        <p:spPr>
          <a:xfrm>
            <a:off x="-9313" y="176270"/>
            <a:ext cx="1219200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rgbClr val="D82042"/>
                </a:solidFill>
                <a:latin typeface="Rockwell"/>
                <a:ea typeface="Rockwell"/>
                <a:cs typeface="Rockwell"/>
                <a:sym typeface="Rockwell"/>
              </a:rPr>
              <a:t>Nearly half of the locations exceed the average cancellation rate</a:t>
            </a:r>
            <a:endParaRPr lang="en-US" dirty="0"/>
          </a:p>
        </p:txBody>
      </p:sp>
      <p:sp>
        <p:nvSpPr>
          <p:cNvPr id="2" name="Google Shape;182;p18">
            <a:extLst>
              <a:ext uri="{FF2B5EF4-FFF2-40B4-BE49-F238E27FC236}">
                <a16:creationId xmlns:a16="http://schemas.microsoft.com/office/drawing/2014/main" id="{60B9D216-EACF-AFDC-78B3-21331BE8F249}"/>
              </a:ext>
            </a:extLst>
          </p:cNvPr>
          <p:cNvSpPr txBox="1"/>
          <p:nvPr/>
        </p:nvSpPr>
        <p:spPr>
          <a:xfrm>
            <a:off x="218903" y="988184"/>
            <a:ext cx="22254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Insights</a:t>
            </a:r>
            <a:endParaRPr/>
          </a:p>
        </p:txBody>
      </p:sp>
      <p:cxnSp>
        <p:nvCxnSpPr>
          <p:cNvPr id="3" name="Google Shape;183;p18">
            <a:extLst>
              <a:ext uri="{FF2B5EF4-FFF2-40B4-BE49-F238E27FC236}">
                <a16:creationId xmlns:a16="http://schemas.microsoft.com/office/drawing/2014/main" id="{F6E56A78-8727-CFBD-2E18-96122B59009F}"/>
              </a:ext>
            </a:extLst>
          </p:cNvPr>
          <p:cNvCxnSpPr/>
          <p:nvPr/>
        </p:nvCxnSpPr>
        <p:spPr>
          <a:xfrm>
            <a:off x="296021" y="1357516"/>
            <a:ext cx="2214391" cy="0"/>
          </a:xfrm>
          <a:prstGeom prst="straightConnector1">
            <a:avLst/>
          </a:prstGeom>
          <a:noFill/>
          <a:ln w="19050" cap="flat" cmpd="sng">
            <a:solidFill>
              <a:schemeClr val="accent1"/>
            </a:solidFill>
            <a:prstDash val="solid"/>
            <a:round/>
            <a:headEnd type="none" w="sm" len="sm"/>
            <a:tailEnd type="none" w="sm" len="sm"/>
          </a:ln>
        </p:spPr>
      </p:cxnSp>
      <p:pic>
        <p:nvPicPr>
          <p:cNvPr id="9" name="Picture 8">
            <a:extLst>
              <a:ext uri="{FF2B5EF4-FFF2-40B4-BE49-F238E27FC236}">
                <a16:creationId xmlns:a16="http://schemas.microsoft.com/office/drawing/2014/main" id="{FAB791A6-E75F-8C41-FB5B-7C740E5C4972}"/>
              </a:ext>
            </a:extLst>
          </p:cNvPr>
          <p:cNvPicPr>
            <a:picLocks noChangeAspect="1"/>
          </p:cNvPicPr>
          <p:nvPr/>
        </p:nvPicPr>
        <p:blipFill>
          <a:blip r:embed="rId3"/>
          <a:stretch>
            <a:fillRect/>
          </a:stretch>
        </p:blipFill>
        <p:spPr>
          <a:xfrm>
            <a:off x="6417715" y="922914"/>
            <a:ext cx="4870676" cy="5869591"/>
          </a:xfrm>
          <a:prstGeom prst="rect">
            <a:avLst/>
          </a:prstGeom>
        </p:spPr>
      </p:pic>
      <p:sp>
        <p:nvSpPr>
          <p:cNvPr id="10" name="Google Shape;160;p16">
            <a:extLst>
              <a:ext uri="{FF2B5EF4-FFF2-40B4-BE49-F238E27FC236}">
                <a16:creationId xmlns:a16="http://schemas.microsoft.com/office/drawing/2014/main" id="{0578883A-43A2-8F7F-3FC4-1ED2DCF2D8B5}"/>
              </a:ext>
            </a:extLst>
          </p:cNvPr>
          <p:cNvSpPr txBox="1"/>
          <p:nvPr/>
        </p:nvSpPr>
        <p:spPr>
          <a:xfrm>
            <a:off x="218903" y="1464350"/>
            <a:ext cx="5824919" cy="2823810"/>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600"/>
              </a:spcAft>
              <a:buClr>
                <a:srgbClr val="AB1842"/>
              </a:buClr>
              <a:buSzPts val="1360"/>
            </a:pPr>
            <a:r>
              <a:rPr lang="en-US" sz="1600" b="1" dirty="0">
                <a:solidFill>
                  <a:srgbClr val="3F3F3F"/>
                </a:solidFill>
                <a:latin typeface="Calibri"/>
                <a:ea typeface="Calibri"/>
                <a:cs typeface="Calibri"/>
                <a:sym typeface="Calibri"/>
              </a:rPr>
              <a:t>46% (17)</a:t>
            </a:r>
            <a:r>
              <a:rPr lang="en-US" sz="1600" dirty="0">
                <a:solidFill>
                  <a:srgbClr val="3F3F3F"/>
                </a:solidFill>
                <a:latin typeface="Calibri"/>
                <a:ea typeface="Calibri"/>
                <a:cs typeface="Calibri"/>
                <a:sym typeface="Calibri"/>
              </a:rPr>
              <a:t> of locations have cancellation rate above average </a:t>
            </a:r>
            <a:r>
              <a:rPr lang="en-US" sz="1600" b="1" dirty="0">
                <a:solidFill>
                  <a:srgbClr val="3F3F3F"/>
                </a:solidFill>
                <a:latin typeface="Calibri"/>
                <a:ea typeface="Calibri"/>
                <a:cs typeface="Calibri"/>
                <a:sym typeface="Calibri"/>
              </a:rPr>
              <a:t>(23%)</a:t>
            </a:r>
            <a:r>
              <a:rPr lang="en-US" sz="1600" dirty="0">
                <a:solidFill>
                  <a:srgbClr val="3F3F3F"/>
                </a:solidFill>
                <a:latin typeface="Calibri"/>
                <a:ea typeface="Calibri"/>
                <a:cs typeface="Calibri"/>
                <a:sym typeface="Calibri"/>
              </a:rPr>
              <a:t>. Following locations show a trend of low Driver performance (more cancellations from Drivers) because of low Fair per KM </a:t>
            </a:r>
            <a:r>
              <a:rPr lang="en-US" sz="1600" dirty="0" err="1">
                <a:solidFill>
                  <a:srgbClr val="3F3F3F"/>
                </a:solidFill>
                <a:latin typeface="Calibri"/>
                <a:ea typeface="Calibri"/>
                <a:cs typeface="Calibri"/>
                <a:sym typeface="Calibri"/>
              </a:rPr>
              <a:t>w.r.t.</a:t>
            </a:r>
            <a:r>
              <a:rPr lang="en-US" sz="1600" dirty="0">
                <a:solidFill>
                  <a:srgbClr val="3F3F3F"/>
                </a:solidFill>
                <a:latin typeface="Calibri"/>
                <a:ea typeface="Calibri"/>
                <a:cs typeface="Calibri"/>
                <a:sym typeface="Calibri"/>
              </a:rPr>
              <a:t> high distance:</a:t>
            </a:r>
          </a:p>
          <a:p>
            <a:pPr marL="449263" lvl="3" indent="-285750">
              <a:spcAft>
                <a:spcPts val="300"/>
              </a:spcAft>
              <a:buClr>
                <a:srgbClr val="AB1842"/>
              </a:buClr>
              <a:buSzPts val="1360"/>
              <a:buFont typeface="Noto Sans Symbols"/>
              <a:buChar char="❑"/>
            </a:pPr>
            <a:r>
              <a:rPr lang="en-US" sz="1600" dirty="0" err="1">
                <a:solidFill>
                  <a:srgbClr val="3F3F3F"/>
                </a:solidFill>
                <a:latin typeface="Calibri"/>
                <a:ea typeface="Calibri"/>
                <a:cs typeface="Calibri"/>
                <a:sym typeface="Calibri"/>
              </a:rPr>
              <a:t>Anekal</a:t>
            </a:r>
            <a:r>
              <a:rPr lang="en-US" sz="1600" dirty="0">
                <a:solidFill>
                  <a:srgbClr val="3F3F3F"/>
                </a:solidFill>
                <a:latin typeface="Calibri"/>
                <a:ea typeface="Calibri"/>
                <a:cs typeface="Calibri"/>
                <a:sym typeface="Calibri"/>
              </a:rPr>
              <a:t> – 42.4%</a:t>
            </a:r>
          </a:p>
          <a:p>
            <a:pPr marL="449263" lvl="3" indent="-285750">
              <a:spcAft>
                <a:spcPts val="300"/>
              </a:spcAft>
              <a:buClr>
                <a:srgbClr val="AB1842"/>
              </a:buClr>
              <a:buSzPts val="1360"/>
              <a:buFont typeface="Noto Sans Symbols"/>
              <a:buChar char="❑"/>
            </a:pPr>
            <a:r>
              <a:rPr lang="en-US" sz="1600" dirty="0">
                <a:solidFill>
                  <a:srgbClr val="3F3F3F"/>
                </a:solidFill>
                <a:latin typeface="Calibri"/>
                <a:ea typeface="Calibri"/>
                <a:cs typeface="Calibri"/>
                <a:sym typeface="Calibri"/>
              </a:rPr>
              <a:t>C V Raman Nagar – 38.2%</a:t>
            </a:r>
          </a:p>
          <a:p>
            <a:pPr marL="449263" lvl="3" indent="-285750">
              <a:spcAft>
                <a:spcPts val="300"/>
              </a:spcAft>
              <a:buClr>
                <a:srgbClr val="AB1842"/>
              </a:buClr>
              <a:buSzPts val="1360"/>
              <a:buFont typeface="Noto Sans Symbols"/>
              <a:buChar char="❑"/>
            </a:pPr>
            <a:r>
              <a:rPr lang="en-US" sz="1600" dirty="0">
                <a:solidFill>
                  <a:srgbClr val="3F3F3F"/>
                </a:solidFill>
                <a:latin typeface="Calibri"/>
                <a:ea typeface="Calibri"/>
                <a:cs typeface="Calibri"/>
                <a:sym typeface="Calibri"/>
              </a:rPr>
              <a:t>Yelahanka – 32.6%</a:t>
            </a:r>
          </a:p>
          <a:p>
            <a:pPr marL="449263" lvl="3" indent="-285750">
              <a:spcAft>
                <a:spcPts val="300"/>
              </a:spcAft>
              <a:buClr>
                <a:srgbClr val="AB1842"/>
              </a:buClr>
              <a:buSzPts val="1360"/>
              <a:buFont typeface="Noto Sans Symbols"/>
              <a:buChar char="❑"/>
            </a:pPr>
            <a:r>
              <a:rPr lang="en-US" sz="1600" dirty="0">
                <a:solidFill>
                  <a:srgbClr val="3F3F3F"/>
                </a:solidFill>
                <a:latin typeface="Calibri"/>
                <a:ea typeface="Calibri"/>
                <a:cs typeface="Calibri"/>
                <a:sym typeface="Calibri"/>
              </a:rPr>
              <a:t>Shanti Nagar – 26.7%</a:t>
            </a:r>
          </a:p>
          <a:p>
            <a:pPr marL="449263" lvl="3" indent="-285750">
              <a:spcAft>
                <a:spcPts val="300"/>
              </a:spcAft>
              <a:buClr>
                <a:srgbClr val="AB1842"/>
              </a:buClr>
              <a:buSzPts val="1360"/>
              <a:buFont typeface="Noto Sans Symbols"/>
              <a:buChar char="❑"/>
            </a:pPr>
            <a:r>
              <a:rPr lang="en-US" sz="1600" dirty="0">
                <a:solidFill>
                  <a:srgbClr val="3F3F3F"/>
                </a:solidFill>
                <a:latin typeface="Calibri"/>
                <a:ea typeface="Calibri"/>
                <a:cs typeface="Calibri"/>
                <a:sym typeface="Calibri"/>
              </a:rPr>
              <a:t>Vijayanagar – 25.7%</a:t>
            </a:r>
          </a:p>
          <a:p>
            <a:pPr marL="449263" lvl="3" indent="-285750">
              <a:buClr>
                <a:srgbClr val="AB1842"/>
              </a:buClr>
              <a:buSzPts val="1360"/>
              <a:buFont typeface="Noto Sans Symbols"/>
              <a:buChar char="❑"/>
            </a:pPr>
            <a:r>
              <a:rPr lang="en-US" sz="1600" dirty="0" err="1">
                <a:solidFill>
                  <a:srgbClr val="3F3F3F"/>
                </a:solidFill>
                <a:latin typeface="Calibri"/>
                <a:ea typeface="Calibri"/>
                <a:cs typeface="Calibri"/>
                <a:sym typeface="Calibri"/>
              </a:rPr>
              <a:t>Channapatna</a:t>
            </a:r>
            <a:r>
              <a:rPr lang="en-US" sz="1600" dirty="0">
                <a:solidFill>
                  <a:srgbClr val="3F3F3F"/>
                </a:solidFill>
                <a:latin typeface="Calibri"/>
                <a:ea typeface="Calibri"/>
                <a:cs typeface="Calibri"/>
                <a:sym typeface="Calibri"/>
              </a:rPr>
              <a:t> – 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209"/>
        <p:cNvGrpSpPr/>
        <p:nvPr/>
      </p:nvGrpSpPr>
      <p:grpSpPr>
        <a:xfrm>
          <a:off x="0" y="0"/>
          <a:ext cx="0" cy="0"/>
          <a:chOff x="0" y="0"/>
          <a:chExt cx="0" cy="0"/>
        </a:xfrm>
      </p:grpSpPr>
      <p:cxnSp>
        <p:nvCxnSpPr>
          <p:cNvPr id="210" name="Google Shape;210;p21"/>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211" name="Google Shape;211;p21"/>
          <p:cNvSpPr txBox="1"/>
          <p:nvPr/>
        </p:nvSpPr>
        <p:spPr>
          <a:xfrm>
            <a:off x="69625" y="176275"/>
            <a:ext cx="11110993"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rgbClr val="D82042"/>
                </a:solidFill>
                <a:latin typeface="Rockwell"/>
                <a:ea typeface="Rockwell"/>
                <a:cs typeface="Rockwell"/>
                <a:sym typeface="Rockwell"/>
              </a:rPr>
              <a:t>Encourage customers to opt for Digital payment methods</a:t>
            </a:r>
            <a:endParaRPr sz="3200" dirty="0"/>
          </a:p>
        </p:txBody>
      </p:sp>
      <p:sp>
        <p:nvSpPr>
          <p:cNvPr id="212" name="Google Shape;212;p21"/>
          <p:cNvSpPr txBox="1"/>
          <p:nvPr/>
        </p:nvSpPr>
        <p:spPr>
          <a:xfrm>
            <a:off x="609602" y="1683641"/>
            <a:ext cx="3839027" cy="941756"/>
          </a:xfrm>
          <a:prstGeom prst="rect">
            <a:avLst/>
          </a:prstGeom>
          <a:noFill/>
          <a:ln>
            <a:noFill/>
          </a:ln>
        </p:spPr>
        <p:txBody>
          <a:bodyPr spcFirstLastPara="1" wrap="square" lIns="91425" tIns="45700" rIns="91425" bIns="45700" anchor="t" anchorCtr="0">
            <a:spAutoFit/>
          </a:bodyPr>
          <a:lstStyle/>
          <a:p>
            <a:pPr lvl="0" algn="l" rtl="0">
              <a:lnSpc>
                <a:spcPct val="115000"/>
              </a:lnSpc>
              <a:spcAft>
                <a:spcPts val="0"/>
              </a:spcAft>
              <a:buClr>
                <a:srgbClr val="AB1842"/>
              </a:buClr>
              <a:buSzPts val="1400"/>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Digital transactions</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rPr>
              <a:t> – 76% </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(Credit Card &gt; Debit Card &gt; UPI) outperformed Cash transactions – </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rPr>
              <a:t>24%</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 </a:t>
            </a:r>
            <a:endParaRPr sz="1600" dirty="0">
              <a:latin typeface="Calibri" panose="020F0502020204030204" pitchFamily="34" charset="0"/>
              <a:ea typeface="Calibri" panose="020F0502020204030204" pitchFamily="34" charset="0"/>
              <a:cs typeface="Calibri" panose="020F0502020204030204" pitchFamily="34" charset="0"/>
            </a:endParaRPr>
          </a:p>
        </p:txBody>
      </p:sp>
      <p:sp>
        <p:nvSpPr>
          <p:cNvPr id="213" name="Google Shape;213;p21"/>
          <p:cNvSpPr txBox="1"/>
          <p:nvPr/>
        </p:nvSpPr>
        <p:spPr>
          <a:xfrm>
            <a:off x="609601" y="1216784"/>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Insights</a:t>
            </a:r>
            <a:endParaRPr/>
          </a:p>
        </p:txBody>
      </p:sp>
      <p:cxnSp>
        <p:nvCxnSpPr>
          <p:cNvPr id="214" name="Google Shape;214;p21"/>
          <p:cNvCxnSpPr/>
          <p:nvPr/>
        </p:nvCxnSpPr>
        <p:spPr>
          <a:xfrm>
            <a:off x="686719" y="1586116"/>
            <a:ext cx="2214300" cy="0"/>
          </a:xfrm>
          <a:prstGeom prst="straightConnector1">
            <a:avLst/>
          </a:prstGeom>
          <a:noFill/>
          <a:ln w="19050" cap="flat" cmpd="sng">
            <a:solidFill>
              <a:schemeClr val="accent1"/>
            </a:solidFill>
            <a:prstDash val="solid"/>
            <a:round/>
            <a:headEnd type="none" w="sm" len="sm"/>
            <a:tailEnd type="none" w="sm" len="sm"/>
          </a:ln>
        </p:spPr>
      </p:cxnSp>
      <p:sp>
        <p:nvSpPr>
          <p:cNvPr id="217" name="Google Shape;217;p21"/>
          <p:cNvSpPr txBox="1"/>
          <p:nvPr/>
        </p:nvSpPr>
        <p:spPr>
          <a:xfrm>
            <a:off x="5373510" y="1683641"/>
            <a:ext cx="4755900" cy="941756"/>
          </a:xfrm>
          <a:prstGeom prst="rect">
            <a:avLst/>
          </a:prstGeom>
          <a:noFill/>
          <a:ln>
            <a:noFill/>
          </a:ln>
        </p:spPr>
        <p:txBody>
          <a:bodyPr spcFirstLastPara="1" wrap="square" lIns="91425" tIns="45700" rIns="91425" bIns="45700" anchor="t" anchorCtr="0">
            <a:spAutoFit/>
          </a:bodyPr>
          <a:lstStyle/>
          <a:p>
            <a:pPr lvl="0" algn="l" rtl="0">
              <a:lnSpc>
                <a:spcPct val="115000"/>
              </a:lnSpc>
              <a:spcAft>
                <a:spcPts val="0"/>
              </a:spcAft>
              <a:buClr>
                <a:srgbClr val="AB1842"/>
              </a:buClr>
              <a:buSzPts val="1400"/>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Unusual revenue distribution — </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rPr>
              <a:t>185.1K</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 </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rPr>
              <a:t>of revenue</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 for </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rPr>
              <a:t>235 rides </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rPr>
              <a:t>suggests that while fewer customers use cash, their trips tend to be high-value rides</a:t>
            </a:r>
          </a:p>
        </p:txBody>
      </p:sp>
      <p:pic>
        <p:nvPicPr>
          <p:cNvPr id="7" name="Picture 6">
            <a:extLst>
              <a:ext uri="{FF2B5EF4-FFF2-40B4-BE49-F238E27FC236}">
                <a16:creationId xmlns:a16="http://schemas.microsoft.com/office/drawing/2014/main" id="{E144335A-BFC1-0D6B-9B12-428EA0321B41}"/>
              </a:ext>
            </a:extLst>
          </p:cNvPr>
          <p:cNvPicPr>
            <a:picLocks noChangeAspect="1"/>
          </p:cNvPicPr>
          <p:nvPr/>
        </p:nvPicPr>
        <p:blipFill>
          <a:blip r:embed="rId3"/>
          <a:srcRect l="727" t="1029" r="333" b="1299"/>
          <a:stretch/>
        </p:blipFill>
        <p:spPr>
          <a:xfrm>
            <a:off x="5497286" y="3407230"/>
            <a:ext cx="6354535" cy="2088695"/>
          </a:xfrm>
          <a:prstGeom prst="rect">
            <a:avLst/>
          </a:prstGeom>
        </p:spPr>
      </p:pic>
      <p:pic>
        <p:nvPicPr>
          <p:cNvPr id="9" name="Picture 8">
            <a:extLst>
              <a:ext uri="{FF2B5EF4-FFF2-40B4-BE49-F238E27FC236}">
                <a16:creationId xmlns:a16="http://schemas.microsoft.com/office/drawing/2014/main" id="{183F450B-7BCD-1478-21B1-9322E2C57A2E}"/>
              </a:ext>
            </a:extLst>
          </p:cNvPr>
          <p:cNvPicPr>
            <a:picLocks noChangeAspect="1"/>
          </p:cNvPicPr>
          <p:nvPr/>
        </p:nvPicPr>
        <p:blipFill>
          <a:blip r:embed="rId4"/>
          <a:srcRect l="1501" t="1316" r="938" b="819"/>
          <a:stretch/>
        </p:blipFill>
        <p:spPr>
          <a:xfrm>
            <a:off x="707571" y="3427688"/>
            <a:ext cx="3111138" cy="3158169"/>
          </a:xfrm>
          <a:prstGeom prst="rect">
            <a:avLst/>
          </a:prstGeom>
        </p:spPr>
      </p:pic>
      <p:sp>
        <p:nvSpPr>
          <p:cNvPr id="10" name="Google Shape;213;p21">
            <a:extLst>
              <a:ext uri="{FF2B5EF4-FFF2-40B4-BE49-F238E27FC236}">
                <a16:creationId xmlns:a16="http://schemas.microsoft.com/office/drawing/2014/main" id="{03D8F7B6-FAEC-C40F-F226-A897E2FDF461}"/>
              </a:ext>
            </a:extLst>
          </p:cNvPr>
          <p:cNvSpPr txBox="1"/>
          <p:nvPr/>
        </p:nvSpPr>
        <p:spPr>
          <a:xfrm>
            <a:off x="5373510" y="1216784"/>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B1842"/>
                </a:solidFill>
                <a:latin typeface="Rockwell"/>
                <a:ea typeface="Rockwell"/>
                <a:cs typeface="Rockwell"/>
                <a:sym typeface="Rockwell"/>
              </a:rPr>
              <a:t>Insights</a:t>
            </a:r>
            <a:endParaRPr/>
          </a:p>
        </p:txBody>
      </p:sp>
      <p:cxnSp>
        <p:nvCxnSpPr>
          <p:cNvPr id="11" name="Google Shape;214;p21">
            <a:extLst>
              <a:ext uri="{FF2B5EF4-FFF2-40B4-BE49-F238E27FC236}">
                <a16:creationId xmlns:a16="http://schemas.microsoft.com/office/drawing/2014/main" id="{4EF76113-FBC3-C060-005E-F7D0D4F443DA}"/>
              </a:ext>
            </a:extLst>
          </p:cNvPr>
          <p:cNvCxnSpPr/>
          <p:nvPr/>
        </p:nvCxnSpPr>
        <p:spPr>
          <a:xfrm>
            <a:off x="5450628" y="1586116"/>
            <a:ext cx="2214300" cy="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247"/>
        <p:cNvGrpSpPr/>
        <p:nvPr/>
      </p:nvGrpSpPr>
      <p:grpSpPr>
        <a:xfrm>
          <a:off x="0" y="0"/>
          <a:ext cx="0" cy="0"/>
          <a:chOff x="0" y="0"/>
          <a:chExt cx="0" cy="0"/>
        </a:xfrm>
      </p:grpSpPr>
      <p:cxnSp>
        <p:nvCxnSpPr>
          <p:cNvPr id="248" name="Google Shape;248;p24"/>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249" name="Google Shape;249;p24"/>
          <p:cNvSpPr txBox="1"/>
          <p:nvPr/>
        </p:nvSpPr>
        <p:spPr>
          <a:xfrm>
            <a:off x="165252" y="176270"/>
            <a:ext cx="103560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rgbClr val="D82042"/>
                </a:solidFill>
                <a:latin typeface="Rockwell"/>
                <a:ea typeface="Rockwell"/>
                <a:cs typeface="Rockwell"/>
                <a:sym typeface="Rockwell"/>
              </a:rPr>
              <a:t>Recommendations</a:t>
            </a:r>
            <a:endParaRPr dirty="0"/>
          </a:p>
        </p:txBody>
      </p:sp>
      <p:sp>
        <p:nvSpPr>
          <p:cNvPr id="250" name="Google Shape;250;p24"/>
          <p:cNvSpPr txBox="1"/>
          <p:nvPr/>
        </p:nvSpPr>
        <p:spPr>
          <a:xfrm>
            <a:off x="-3222773" y="2278700"/>
            <a:ext cx="1993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endParaRPr/>
          </a:p>
        </p:txBody>
      </p:sp>
      <p:sp>
        <p:nvSpPr>
          <p:cNvPr id="2" name="Google Shape;168;p17">
            <a:extLst>
              <a:ext uri="{FF2B5EF4-FFF2-40B4-BE49-F238E27FC236}">
                <a16:creationId xmlns:a16="http://schemas.microsoft.com/office/drawing/2014/main" id="{BF9FA645-9AFA-413B-DB1A-F10FFF57D1F8}"/>
              </a:ext>
            </a:extLst>
          </p:cNvPr>
          <p:cNvSpPr txBox="1"/>
          <p:nvPr/>
        </p:nvSpPr>
        <p:spPr>
          <a:xfrm>
            <a:off x="165252" y="1001429"/>
            <a:ext cx="11863264" cy="3180317"/>
          </a:xfrm>
          <a:prstGeom prst="rect">
            <a:avLst/>
          </a:prstGeom>
          <a:noFill/>
          <a:ln>
            <a:noFill/>
          </a:ln>
        </p:spPr>
        <p:txBody>
          <a:bodyPr spcFirstLastPara="1" wrap="square" lIns="91425" tIns="45700" rIns="91425" bIns="45700" anchor="t" anchorCtr="0">
            <a:spAutoFit/>
          </a:bodyPr>
          <a:lstStyle/>
          <a:p>
            <a:pPr marL="342900" lvl="0" indent="-342900">
              <a:spcAft>
                <a:spcPts val="600"/>
              </a:spcAft>
              <a:buClr>
                <a:srgbClr val="AB1842"/>
              </a:buClr>
              <a:buFont typeface="Wingdings" panose="05000000000000000000" pitchFamily="2" charset="2"/>
              <a:buChar char=""/>
              <a:tabLst>
                <a:tab pos="457200" algn="l"/>
              </a:tabLst>
            </a:pPr>
            <a:r>
              <a:rPr lang="en-US"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Revenue generation</a:t>
            </a:r>
            <a:endParaRPr lang="en-IN"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300"/>
              </a:spcAft>
              <a:buClr>
                <a:srgbClr val="AB1842"/>
              </a:buClr>
              <a:buFont typeface="Wingdings" panose="05000000000000000000" pitchFamily="2" charset="2"/>
              <a:buChar char=""/>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Offer targeted discounts or cashbacks for rides during Early Morning, Evening, Night, and Midnight windows.</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600"/>
              </a:spcAft>
              <a:buClr>
                <a:srgbClr val="AB1842"/>
              </a:buClr>
              <a:buFont typeface="Wingdings" panose="05000000000000000000" pitchFamily="2" charset="2"/>
              <a:buChar char=""/>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Time slots between 4 PM and 8 PM show higher average fares but generate relatively lower revenue indicating underutilization from both operational and marketing standpoints</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spcAft>
                <a:spcPts val="600"/>
              </a:spcAft>
              <a:buClr>
                <a:srgbClr val="AB1842"/>
              </a:buClr>
              <a:buFont typeface="Wingdings" panose="05000000000000000000" pitchFamily="2" charset="2"/>
              <a:buChar char=""/>
              <a:tabLst>
                <a:tab pos="457200" algn="l"/>
              </a:tabLst>
            </a:pPr>
            <a:r>
              <a:rPr lang="en-US"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Drivers’ performance</a:t>
            </a: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 </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600"/>
              </a:spcAft>
              <a:buClr>
                <a:srgbClr val="AB1842"/>
              </a:buClr>
              <a:buFont typeface="Wingdings" panose="05000000000000000000" pitchFamily="2" charset="2"/>
              <a:buChar char=""/>
              <a:tabLst>
                <a:tab pos="457200" algn="l"/>
                <a:tab pos="914400" algn="l"/>
              </a:tabLst>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Driver incentivization program to improve performance</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spcAft>
                <a:spcPts val="600"/>
              </a:spcAft>
              <a:buClr>
                <a:srgbClr val="AB1842"/>
              </a:buClr>
              <a:buFont typeface="Wingdings" panose="05000000000000000000" pitchFamily="2" charset="2"/>
              <a:buChar char=""/>
              <a:tabLst>
                <a:tab pos="457200" algn="l"/>
              </a:tabLst>
            </a:pPr>
            <a:r>
              <a:rPr lang="en-US"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Rides cancellation</a:t>
            </a:r>
            <a:endParaRPr lang="en-IN"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600"/>
              </a:spcAft>
              <a:buClr>
                <a:srgbClr val="AB1842"/>
              </a:buClr>
              <a:buFont typeface="Wingdings" panose="05000000000000000000" pitchFamily="2" charset="2"/>
              <a:buChar char=""/>
              <a:tabLst>
                <a:tab pos="457200" algn="l"/>
                <a:tab pos="914400" algn="l"/>
              </a:tabLst>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Addressing driver and customer cancellations can improve ride completion to 59%.</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spcAft>
                <a:spcPts val="600"/>
              </a:spcAft>
              <a:buClr>
                <a:srgbClr val="AB1842"/>
              </a:buClr>
              <a:buFont typeface="Wingdings" panose="05000000000000000000" pitchFamily="2" charset="2"/>
              <a:buChar char=""/>
              <a:tabLst>
                <a:tab pos="457200" algn="l"/>
              </a:tabLst>
            </a:pPr>
            <a:r>
              <a:rPr lang="en-US"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Payment methods</a:t>
            </a:r>
            <a:endParaRPr lang="en-IN"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600"/>
              </a:spcAft>
              <a:buClr>
                <a:srgbClr val="AB1842"/>
              </a:buClr>
              <a:buFont typeface="Wingdings" panose="05000000000000000000" pitchFamily="2" charset="2"/>
              <a:buChar char=""/>
              <a:tabLst>
                <a:tab pos="457200" algn="l"/>
                <a:tab pos="914400" algn="l"/>
              </a:tabLst>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Encourage Digital Alternatives for High-Value Rides- Offering exclusive discounts or smoother checkout for high-value transactions on Digital payment methods</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spcAft>
                <a:spcPts val="600"/>
              </a:spcAft>
              <a:buClr>
                <a:srgbClr val="AB1842"/>
              </a:buClr>
              <a:buFont typeface="Wingdings" panose="05000000000000000000" pitchFamily="2" charset="2"/>
              <a:buChar char=""/>
              <a:tabLst>
                <a:tab pos="457200" algn="l"/>
              </a:tabLst>
            </a:pPr>
            <a:r>
              <a:rPr lang="en-US"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Ride conversion rate</a:t>
            </a:r>
            <a:endParaRPr lang="en-IN" sz="1200" b="1"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300"/>
              </a:spcAft>
              <a:buClr>
                <a:srgbClr val="AB1842"/>
              </a:buClr>
              <a:buFont typeface="Wingdings" panose="05000000000000000000" pitchFamily="2" charset="2"/>
              <a:buChar char=""/>
              <a:tabLst>
                <a:tab pos="457200" algn="l"/>
                <a:tab pos="914400" algn="l"/>
              </a:tabLst>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Reducing wait-times by better driver allocation can further improve the completion rate to 67%</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800"/>
              </a:spcAft>
              <a:buClr>
                <a:srgbClr val="AB1842"/>
              </a:buClr>
              <a:buFont typeface="Wingdings" panose="05000000000000000000" pitchFamily="2" charset="2"/>
              <a:buChar char=""/>
              <a:tabLst>
                <a:tab pos="457200" algn="l"/>
                <a:tab pos="914400" algn="l"/>
              </a:tabLst>
            </a:pPr>
            <a:r>
              <a:rPr lang="en-US"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Experiment with A/B tests for ride suggestion algorithms and booking flows to increase conversions to 80%</a:t>
            </a:r>
            <a:endParaRPr lang="en-IN" sz="1200" kern="1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5456B7E2-0F17-DD5F-1AA5-7EAEF3544184}"/>
              </a:ext>
            </a:extLst>
          </p:cNvPr>
          <p:cNvPicPr>
            <a:picLocks noChangeAspect="1"/>
          </p:cNvPicPr>
          <p:nvPr/>
        </p:nvPicPr>
        <p:blipFill>
          <a:blip r:embed="rId3"/>
          <a:srcRect l="311" t="1905" r="501" b="965"/>
          <a:stretch/>
        </p:blipFill>
        <p:spPr>
          <a:xfrm>
            <a:off x="1865085" y="4301825"/>
            <a:ext cx="8445501" cy="2429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09">
          <a:extLst>
            <a:ext uri="{FF2B5EF4-FFF2-40B4-BE49-F238E27FC236}">
              <a16:creationId xmlns:a16="http://schemas.microsoft.com/office/drawing/2014/main" id="{6B9B6B86-13A6-432C-14D5-74776C91B4FF}"/>
            </a:ext>
          </a:extLst>
        </p:cNvPr>
        <p:cNvGrpSpPr/>
        <p:nvPr/>
      </p:nvGrpSpPr>
      <p:grpSpPr>
        <a:xfrm>
          <a:off x="0" y="0"/>
          <a:ext cx="0" cy="0"/>
          <a:chOff x="0" y="0"/>
          <a:chExt cx="0" cy="0"/>
        </a:xfrm>
      </p:grpSpPr>
      <p:cxnSp>
        <p:nvCxnSpPr>
          <p:cNvPr id="110" name="Google Shape;110;p14">
            <a:extLst>
              <a:ext uri="{FF2B5EF4-FFF2-40B4-BE49-F238E27FC236}">
                <a16:creationId xmlns:a16="http://schemas.microsoft.com/office/drawing/2014/main" id="{0C5542FB-5CF1-7E79-A5CC-591CAB8E004E}"/>
              </a:ext>
            </a:extLst>
          </p:cNvPr>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11" name="Google Shape;111;p14">
            <a:extLst>
              <a:ext uri="{FF2B5EF4-FFF2-40B4-BE49-F238E27FC236}">
                <a16:creationId xmlns:a16="http://schemas.microsoft.com/office/drawing/2014/main" id="{21E0AFB4-B784-1539-0C65-41B022AABA31}"/>
              </a:ext>
            </a:extLst>
          </p:cNvPr>
          <p:cNvSpPr txBox="1"/>
          <p:nvPr/>
        </p:nvSpPr>
        <p:spPr>
          <a:xfrm>
            <a:off x="165252" y="176270"/>
            <a:ext cx="11827455"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D82042"/>
                </a:solidFill>
                <a:latin typeface="Rockwell"/>
                <a:ea typeface="Rockwell"/>
                <a:cs typeface="Rockwell"/>
                <a:sym typeface="Rockwell"/>
              </a:rPr>
              <a:t>Appendix – Data Source</a:t>
            </a:r>
            <a:endParaRPr dirty="0"/>
          </a:p>
        </p:txBody>
      </p:sp>
      <p:sp>
        <p:nvSpPr>
          <p:cNvPr id="2" name="Google Shape;160;p16">
            <a:extLst>
              <a:ext uri="{FF2B5EF4-FFF2-40B4-BE49-F238E27FC236}">
                <a16:creationId xmlns:a16="http://schemas.microsoft.com/office/drawing/2014/main" id="{4533A644-4762-ADD5-8C1D-28D6615B1F3E}"/>
              </a:ext>
            </a:extLst>
          </p:cNvPr>
          <p:cNvSpPr txBox="1"/>
          <p:nvPr/>
        </p:nvSpPr>
        <p:spPr>
          <a:xfrm>
            <a:off x="608644" y="2162832"/>
            <a:ext cx="11257347" cy="933549"/>
          </a:xfrm>
          <a:prstGeom prst="rect">
            <a:avLst/>
          </a:prstGeom>
          <a:noFill/>
          <a:ln>
            <a:noFill/>
          </a:ln>
        </p:spPr>
        <p:txBody>
          <a:bodyPr spcFirstLastPara="1" wrap="square" lIns="91425" tIns="45700" rIns="91425" bIns="45700" anchor="t" anchorCtr="0">
            <a:spAutoFit/>
          </a:bodyPr>
          <a:lstStyle/>
          <a:p>
            <a:pPr algn="just">
              <a:spcBef>
                <a:spcPts val="400"/>
              </a:spcBef>
              <a:spcAft>
                <a:spcPts val="400"/>
              </a:spcAft>
              <a:buClr>
                <a:srgbClr val="EE283C"/>
              </a:buClr>
            </a:pPr>
            <a:r>
              <a:rPr lang="en-US" sz="1600" u="sng"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dataset comprises five tables</a:t>
            </a: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t>
            </a:r>
            <a:r>
              <a:rPr lang="en-US" sz="16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Assembly - </a:t>
            </a: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storing assembly zone details, </a:t>
            </a:r>
            <a:r>
              <a:rPr lang="en-US" sz="16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Duration -</a:t>
            </a: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providing time period identifiers, </a:t>
            </a:r>
            <a:r>
              <a:rPr lang="en-US" sz="16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Payment -</a:t>
            </a: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detailing payment methods, </a:t>
            </a:r>
            <a:r>
              <a:rPr lang="en-US" sz="16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Trip Details -</a:t>
            </a: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capturing trip request and status information and </a:t>
            </a:r>
            <a:r>
              <a:rPr lang="en-US" sz="16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Trips - </a:t>
            </a: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containing core trip data like fare, locations, and IDs.</a:t>
            </a:r>
            <a:endParaRPr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160;p16">
            <a:extLst>
              <a:ext uri="{FF2B5EF4-FFF2-40B4-BE49-F238E27FC236}">
                <a16:creationId xmlns:a16="http://schemas.microsoft.com/office/drawing/2014/main" id="{6B99B52D-01B9-226E-06CD-7EBA58145D7F}"/>
              </a:ext>
            </a:extLst>
          </p:cNvPr>
          <p:cNvSpPr txBox="1"/>
          <p:nvPr/>
        </p:nvSpPr>
        <p:spPr>
          <a:xfrm>
            <a:off x="608644" y="4118057"/>
            <a:ext cx="11257347" cy="933549"/>
          </a:xfrm>
          <a:prstGeom prst="rect">
            <a:avLst/>
          </a:prstGeom>
          <a:noFill/>
          <a:ln>
            <a:noFill/>
          </a:ln>
        </p:spPr>
        <p:txBody>
          <a:bodyPr spcFirstLastPara="1" wrap="square" lIns="91425" tIns="45700" rIns="91425" bIns="45700" anchor="t" anchorCtr="0">
            <a:spAutoFit/>
          </a:bodyPr>
          <a:lstStyle/>
          <a:p>
            <a:pPr algn="just">
              <a:spcBef>
                <a:spcPts val="400"/>
              </a:spcBef>
              <a:spcAft>
                <a:spcPts val="400"/>
              </a:spcAft>
              <a:buClr>
                <a:srgbClr val="EE283C"/>
              </a:buCl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This data dictionary outlines key variables for analyzing trip data. It includes unique identifiers for assemblies, durations, payments, and trips. Details cover trip requests, price estimates, driver searches, cancellations, OTP entry, ride completion, fare information, locations, and involved parties like drivers and customers.</a:t>
            </a:r>
            <a:endParaRPr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Google Shape;213;p21">
            <a:extLst>
              <a:ext uri="{FF2B5EF4-FFF2-40B4-BE49-F238E27FC236}">
                <a16:creationId xmlns:a16="http://schemas.microsoft.com/office/drawing/2014/main" id="{77AFBBD5-1EC2-1887-035A-67D278408478}"/>
              </a:ext>
            </a:extLst>
          </p:cNvPr>
          <p:cNvSpPr txBox="1"/>
          <p:nvPr/>
        </p:nvSpPr>
        <p:spPr>
          <a:xfrm>
            <a:off x="609601" y="1740486"/>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Tables information</a:t>
            </a:r>
            <a:endParaRPr dirty="0"/>
          </a:p>
        </p:txBody>
      </p:sp>
      <p:cxnSp>
        <p:nvCxnSpPr>
          <p:cNvPr id="5" name="Google Shape;214;p21">
            <a:extLst>
              <a:ext uri="{FF2B5EF4-FFF2-40B4-BE49-F238E27FC236}">
                <a16:creationId xmlns:a16="http://schemas.microsoft.com/office/drawing/2014/main" id="{5DB6C9C6-9A0D-D431-FB43-771473304CB5}"/>
              </a:ext>
            </a:extLst>
          </p:cNvPr>
          <p:cNvCxnSpPr/>
          <p:nvPr/>
        </p:nvCxnSpPr>
        <p:spPr>
          <a:xfrm>
            <a:off x="686719" y="2109818"/>
            <a:ext cx="2214300" cy="0"/>
          </a:xfrm>
          <a:prstGeom prst="straightConnector1">
            <a:avLst/>
          </a:prstGeom>
          <a:noFill/>
          <a:ln w="19050" cap="flat" cmpd="sng">
            <a:solidFill>
              <a:schemeClr val="accent1"/>
            </a:solidFill>
            <a:prstDash val="solid"/>
            <a:round/>
            <a:headEnd type="none" w="sm" len="sm"/>
            <a:tailEnd type="none" w="sm" len="sm"/>
          </a:ln>
        </p:spPr>
      </p:cxnSp>
      <p:sp>
        <p:nvSpPr>
          <p:cNvPr id="6" name="Google Shape;213;p21">
            <a:extLst>
              <a:ext uri="{FF2B5EF4-FFF2-40B4-BE49-F238E27FC236}">
                <a16:creationId xmlns:a16="http://schemas.microsoft.com/office/drawing/2014/main" id="{AF735022-680D-19E8-8F22-B4439676657E}"/>
              </a:ext>
            </a:extLst>
          </p:cNvPr>
          <p:cNvSpPr txBox="1"/>
          <p:nvPr/>
        </p:nvSpPr>
        <p:spPr>
          <a:xfrm>
            <a:off x="609601" y="3748766"/>
            <a:ext cx="255754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Variables information</a:t>
            </a:r>
            <a:endParaRPr dirty="0"/>
          </a:p>
        </p:txBody>
      </p:sp>
      <p:cxnSp>
        <p:nvCxnSpPr>
          <p:cNvPr id="7" name="Google Shape;214;p21">
            <a:extLst>
              <a:ext uri="{FF2B5EF4-FFF2-40B4-BE49-F238E27FC236}">
                <a16:creationId xmlns:a16="http://schemas.microsoft.com/office/drawing/2014/main" id="{5A81A031-1AA2-9581-256A-F21335E89D0A}"/>
              </a:ext>
            </a:extLst>
          </p:cNvPr>
          <p:cNvCxnSpPr>
            <a:cxnSpLocks/>
          </p:cNvCxnSpPr>
          <p:nvPr/>
        </p:nvCxnSpPr>
        <p:spPr>
          <a:xfrm>
            <a:off x="686719" y="4118098"/>
            <a:ext cx="2538619" cy="0"/>
          </a:xfrm>
          <a:prstGeom prst="straightConnector1">
            <a:avLst/>
          </a:prstGeom>
          <a:noFill/>
          <a:ln w="19050"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1056112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7DF"/>
        </a:solidFill>
        <a:effectLst/>
      </p:bgPr>
    </p:bg>
    <p:spTree>
      <p:nvGrpSpPr>
        <p:cNvPr id="1" name="Shape 109">
          <a:extLst>
            <a:ext uri="{FF2B5EF4-FFF2-40B4-BE49-F238E27FC236}">
              <a16:creationId xmlns:a16="http://schemas.microsoft.com/office/drawing/2014/main" id="{70FA4AF8-DB0F-6C18-4F71-7228B08F75E1}"/>
            </a:ext>
          </a:extLst>
        </p:cNvPr>
        <p:cNvGrpSpPr/>
        <p:nvPr/>
      </p:nvGrpSpPr>
      <p:grpSpPr>
        <a:xfrm>
          <a:off x="0" y="0"/>
          <a:ext cx="0" cy="0"/>
          <a:chOff x="0" y="0"/>
          <a:chExt cx="0" cy="0"/>
        </a:xfrm>
      </p:grpSpPr>
      <p:cxnSp>
        <p:nvCxnSpPr>
          <p:cNvPr id="110" name="Google Shape;110;p14">
            <a:extLst>
              <a:ext uri="{FF2B5EF4-FFF2-40B4-BE49-F238E27FC236}">
                <a16:creationId xmlns:a16="http://schemas.microsoft.com/office/drawing/2014/main" id="{D449262C-80B8-E128-1C25-CABBAB8B3921}"/>
              </a:ext>
            </a:extLst>
          </p:cNvPr>
          <p:cNvCxnSpPr/>
          <p:nvPr/>
        </p:nvCxnSpPr>
        <p:spPr>
          <a:xfrm>
            <a:off x="0" y="881349"/>
            <a:ext cx="12192000" cy="0"/>
          </a:xfrm>
          <a:prstGeom prst="straightConnector1">
            <a:avLst/>
          </a:prstGeom>
          <a:noFill/>
          <a:ln w="38100" cap="flat" cmpd="sng">
            <a:solidFill>
              <a:srgbClr val="C00000"/>
            </a:solidFill>
            <a:prstDash val="solid"/>
            <a:round/>
            <a:headEnd type="none" w="sm" len="sm"/>
            <a:tailEnd type="none" w="sm" len="sm"/>
          </a:ln>
        </p:spPr>
      </p:cxnSp>
      <p:sp>
        <p:nvSpPr>
          <p:cNvPr id="111" name="Google Shape;111;p14">
            <a:extLst>
              <a:ext uri="{FF2B5EF4-FFF2-40B4-BE49-F238E27FC236}">
                <a16:creationId xmlns:a16="http://schemas.microsoft.com/office/drawing/2014/main" id="{13458253-9F24-ECDB-28AD-5416F65B1FC3}"/>
              </a:ext>
            </a:extLst>
          </p:cNvPr>
          <p:cNvSpPr txBox="1"/>
          <p:nvPr/>
        </p:nvSpPr>
        <p:spPr>
          <a:xfrm>
            <a:off x="182271" y="185506"/>
            <a:ext cx="11827455" cy="584735"/>
          </a:xfrm>
          <a:prstGeom prst="rect">
            <a:avLst/>
          </a:prstGeom>
          <a:noFill/>
          <a:ln>
            <a:noFill/>
          </a:ln>
        </p:spPr>
        <p:txBody>
          <a:bodyPr spcFirstLastPara="1" wrap="square" lIns="91425" tIns="45700" rIns="91425" bIns="45700" anchor="t" anchorCtr="0">
            <a:spAutoFit/>
          </a:bodyPr>
          <a:lstStyle/>
          <a:p>
            <a:pPr lvl="0"/>
            <a:r>
              <a:rPr lang="en-US" sz="3200" b="0" i="0" u="none" strike="noStrike" cap="none" dirty="0">
                <a:solidFill>
                  <a:srgbClr val="D82042"/>
                </a:solidFill>
                <a:latin typeface="Rockwell"/>
                <a:ea typeface="Rockwell"/>
                <a:cs typeface="Rockwell"/>
                <a:sym typeface="Rockwell"/>
              </a:rPr>
              <a:t>Appendix – Data Methodology &amp; </a:t>
            </a:r>
            <a:r>
              <a:rPr lang="en-US" sz="3200" dirty="0">
                <a:solidFill>
                  <a:srgbClr val="D82042"/>
                </a:solidFill>
                <a:latin typeface="Rockwell"/>
                <a:sym typeface="Rockwell"/>
              </a:rPr>
              <a:t>Data Assumptions</a:t>
            </a:r>
            <a:endParaRPr sz="3200" dirty="0">
              <a:solidFill>
                <a:srgbClr val="D82042"/>
              </a:solidFill>
              <a:latin typeface="Rockwell"/>
            </a:endParaRPr>
          </a:p>
        </p:txBody>
      </p:sp>
      <p:sp>
        <p:nvSpPr>
          <p:cNvPr id="2" name="Google Shape;160;p16">
            <a:extLst>
              <a:ext uri="{FF2B5EF4-FFF2-40B4-BE49-F238E27FC236}">
                <a16:creationId xmlns:a16="http://schemas.microsoft.com/office/drawing/2014/main" id="{F0766F94-7817-E2A4-3DDC-6B36B3DF401B}"/>
              </a:ext>
            </a:extLst>
          </p:cNvPr>
          <p:cNvSpPr txBox="1"/>
          <p:nvPr/>
        </p:nvSpPr>
        <p:spPr>
          <a:xfrm>
            <a:off x="616954" y="1556006"/>
            <a:ext cx="11257347" cy="2254423"/>
          </a:xfrm>
          <a:prstGeom prst="rect">
            <a:avLst/>
          </a:prstGeom>
          <a:noFill/>
          <a:ln>
            <a:noFill/>
          </a:ln>
        </p:spPr>
        <p:txBody>
          <a:bodyPr spcFirstLastPara="1" wrap="square" lIns="91425" tIns="45700" rIns="91425" bIns="45700" anchor="t" anchorCtr="0">
            <a:spAutoFit/>
          </a:bodyPr>
          <a:lstStyle/>
          <a:p>
            <a:pPr algn="just">
              <a:spcAft>
                <a:spcPts val="600"/>
              </a:spcAft>
              <a:buClr>
                <a:srgbClr val="EE283C"/>
              </a:buCl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conducted a thorough analysis of the trip data and trip details fact data. The process included:</a:t>
            </a:r>
          </a:p>
          <a:p>
            <a:pPr marL="285750" indent="-285750" algn="just">
              <a:spcAft>
                <a:spcPts val="300"/>
              </a:spcAft>
              <a:buClr>
                <a:srgbClr val="AB1842"/>
              </a:buClr>
              <a:buSzPts val="1360"/>
              <a:buFont typeface="Noto Sans Symbols"/>
              <a:buChar char="❑"/>
            </a:pPr>
            <a:r>
              <a:rPr lang="en-US"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sym typeface="Calibri"/>
              </a:rPr>
              <a:t>Analyzed data by applying logical filters and used Matrix table to establish various logics for creating measures </a:t>
            </a:r>
          </a:p>
          <a:p>
            <a:pPr indent="268288" algn="just">
              <a:spcAft>
                <a:spcPts val="300"/>
              </a:spcAft>
              <a:buClr>
                <a:srgbClr val="AB1842"/>
              </a:buClr>
              <a:buSzPts val="1360"/>
              <a:buFont typeface="Noto Sans Symbols"/>
              <a:buChar char="❑"/>
            </a:pPr>
            <a:r>
              <a:rPr lang="en-IN"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Using Column quality and Column distribution options, analytically tried to explore errors, duplicates values and data type of each column in all the tables. Ensured relevant headers are promoted in each table before loading to Model view.</a:t>
            </a:r>
          </a:p>
          <a:p>
            <a:pPr indent="268288" algn="just">
              <a:spcAft>
                <a:spcPts val="300"/>
              </a:spcAft>
              <a:buClr>
                <a:srgbClr val="AB1842"/>
              </a:buClr>
              <a:buSzPts val="1360"/>
              <a:buFont typeface="Noto Sans Symbols"/>
              <a:buChar char="❑"/>
            </a:pPr>
            <a:r>
              <a:rPr lang="en-IN"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identified two tables’ Trips and </a:t>
            </a:r>
            <a:r>
              <a:rPr lang="en-IN" sz="1600" dirty="0" err="1">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Trips_Details</a:t>
            </a:r>
            <a:r>
              <a:rPr lang="en-IN"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as fact tables and Assembly, Duration and Payment tables as dimension tables. We created fact constellation schema, where we both the facts tables are sharing the data from one or many dimension tables</a:t>
            </a:r>
          </a:p>
          <a:p>
            <a:pPr indent="268288" algn="just">
              <a:buClr>
                <a:srgbClr val="AB1842"/>
              </a:buClr>
              <a:buSzPts val="1360"/>
              <a:buFont typeface="Noto Sans Symbols"/>
              <a:buChar char="❑"/>
            </a:pPr>
            <a:r>
              <a:rPr lang="en-IN"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established </a:t>
            </a:r>
            <a:r>
              <a:rPr lang="en-IN" sz="1600" u="sng"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one-to-many cardinality</a:t>
            </a:r>
            <a:r>
              <a:rPr lang="en-IN"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between the tables to ensure data integrity, allowing for accurate data aggregation and meaningful analysis</a:t>
            </a:r>
          </a:p>
        </p:txBody>
      </p:sp>
      <p:sp>
        <p:nvSpPr>
          <p:cNvPr id="3" name="Google Shape;213;p21">
            <a:extLst>
              <a:ext uri="{FF2B5EF4-FFF2-40B4-BE49-F238E27FC236}">
                <a16:creationId xmlns:a16="http://schemas.microsoft.com/office/drawing/2014/main" id="{220D5C47-568B-7939-DE38-B82DDF39488E}"/>
              </a:ext>
            </a:extLst>
          </p:cNvPr>
          <p:cNvSpPr txBox="1"/>
          <p:nvPr/>
        </p:nvSpPr>
        <p:spPr>
          <a:xfrm>
            <a:off x="609601" y="1033905"/>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Data Methodology</a:t>
            </a:r>
            <a:endParaRPr dirty="0"/>
          </a:p>
        </p:txBody>
      </p:sp>
      <p:cxnSp>
        <p:nvCxnSpPr>
          <p:cNvPr id="4" name="Google Shape;214;p21">
            <a:extLst>
              <a:ext uri="{FF2B5EF4-FFF2-40B4-BE49-F238E27FC236}">
                <a16:creationId xmlns:a16="http://schemas.microsoft.com/office/drawing/2014/main" id="{1F2767A5-9BF1-830F-7DAF-144357401BD5}"/>
              </a:ext>
            </a:extLst>
          </p:cNvPr>
          <p:cNvCxnSpPr/>
          <p:nvPr/>
        </p:nvCxnSpPr>
        <p:spPr>
          <a:xfrm>
            <a:off x="686719" y="1403237"/>
            <a:ext cx="2214300" cy="0"/>
          </a:xfrm>
          <a:prstGeom prst="straightConnector1">
            <a:avLst/>
          </a:prstGeom>
          <a:noFill/>
          <a:ln w="19050" cap="flat" cmpd="sng">
            <a:solidFill>
              <a:schemeClr val="accent1"/>
            </a:solidFill>
            <a:prstDash val="solid"/>
            <a:round/>
            <a:headEnd type="none" w="sm" len="sm"/>
            <a:tailEnd type="none" w="sm" len="sm"/>
          </a:ln>
        </p:spPr>
      </p:cxnSp>
      <p:sp>
        <p:nvSpPr>
          <p:cNvPr id="5" name="TextBox 4">
            <a:extLst>
              <a:ext uri="{FF2B5EF4-FFF2-40B4-BE49-F238E27FC236}">
                <a16:creationId xmlns:a16="http://schemas.microsoft.com/office/drawing/2014/main" id="{F86CC919-BE62-DB6C-B5E0-9991E140CAF1}"/>
              </a:ext>
            </a:extLst>
          </p:cNvPr>
          <p:cNvSpPr txBox="1"/>
          <p:nvPr/>
        </p:nvSpPr>
        <p:spPr>
          <a:xfrm>
            <a:off x="616954" y="4721628"/>
            <a:ext cx="11257346" cy="1400383"/>
          </a:xfrm>
          <a:prstGeom prst="rect">
            <a:avLst/>
          </a:prstGeom>
          <a:noFill/>
        </p:spPr>
        <p:txBody>
          <a:bodyPr wrap="square" rtlCol="0">
            <a:spAutoFit/>
          </a:bodyPr>
          <a:lstStyle/>
          <a:p>
            <a:pPr marL="285750" lvl="0" indent="-285750" algn="just">
              <a:spcAft>
                <a:spcPts val="300"/>
              </a:spcAft>
              <a:buClr>
                <a:srgbClr val="AB1842"/>
              </a:buClr>
              <a:buSzPts val="1360"/>
              <a:buFont typeface="Noto Sans Symbols"/>
              <a:buChar char="❑"/>
            </a:pPr>
            <a:r>
              <a:rPr lang="en-US" sz="1600" dirty="0">
                <a:solidFill>
                  <a:schemeClr val="tx1">
                    <a:lumMod val="75000"/>
                    <a:lumOff val="25000"/>
                  </a:schemeClr>
                </a:solidFill>
                <a:latin typeface="Calibri"/>
                <a:ea typeface="Calibri"/>
                <a:cs typeface="Calibri"/>
                <a:sym typeface="Calibri"/>
              </a:rPr>
              <a:t>Conversation rate metric calculates the % of rides that successfully completed out of total number of inquiries (searches) i.e. </a:t>
            </a:r>
            <a:r>
              <a:rPr lang="en-US" sz="1600" i="1" dirty="0">
                <a:solidFill>
                  <a:schemeClr val="tx1">
                    <a:lumMod val="75000"/>
                    <a:lumOff val="25000"/>
                  </a:schemeClr>
                </a:solidFill>
                <a:latin typeface="Calibri"/>
                <a:ea typeface="Calibri"/>
                <a:cs typeface="Calibri"/>
                <a:sym typeface="Calibri"/>
              </a:rPr>
              <a:t>Sum of </a:t>
            </a:r>
            <a:r>
              <a:rPr lang="en-US" sz="1600" i="1" dirty="0" err="1">
                <a:solidFill>
                  <a:schemeClr val="tx1">
                    <a:lumMod val="75000"/>
                    <a:lumOff val="25000"/>
                  </a:schemeClr>
                </a:solidFill>
                <a:latin typeface="Calibri"/>
                <a:ea typeface="Calibri"/>
                <a:cs typeface="Calibri"/>
                <a:sym typeface="Calibri"/>
              </a:rPr>
              <a:t>end_rides</a:t>
            </a:r>
            <a:r>
              <a:rPr lang="en-US" sz="1600" i="1" dirty="0">
                <a:solidFill>
                  <a:schemeClr val="tx1">
                    <a:lumMod val="75000"/>
                    <a:lumOff val="25000"/>
                  </a:schemeClr>
                </a:solidFill>
                <a:latin typeface="Calibri"/>
                <a:ea typeface="Calibri"/>
                <a:cs typeface="Calibri"/>
                <a:sym typeface="Calibri"/>
              </a:rPr>
              <a:t> / Sum of searches</a:t>
            </a:r>
          </a:p>
          <a:p>
            <a:pPr marL="285750" lvl="0" indent="-285750" algn="just">
              <a:spcAft>
                <a:spcPts val="300"/>
              </a:spcAft>
              <a:buClr>
                <a:srgbClr val="AB1842"/>
              </a:buClr>
              <a:buSzPts val="1360"/>
              <a:buFont typeface="Noto Sans Symbols"/>
              <a:buChar char="❑"/>
            </a:pPr>
            <a:r>
              <a:rPr lang="en-US" sz="1600" dirty="0">
                <a:solidFill>
                  <a:schemeClr val="tx1">
                    <a:lumMod val="75000"/>
                    <a:lumOff val="25000"/>
                  </a:schemeClr>
                </a:solidFill>
                <a:latin typeface="Calibri"/>
                <a:ea typeface="Calibri"/>
                <a:cs typeface="Calibri"/>
                <a:sym typeface="Calibri"/>
              </a:rPr>
              <a:t>A trip is considered as cancelled if ride is not completed after driver allotment i.e. </a:t>
            </a:r>
            <a:r>
              <a:rPr lang="en-US" sz="1600" i="1" dirty="0">
                <a:solidFill>
                  <a:schemeClr val="tx1">
                    <a:lumMod val="75000"/>
                    <a:lumOff val="25000"/>
                  </a:schemeClr>
                </a:solidFill>
                <a:latin typeface="Calibri"/>
                <a:ea typeface="Calibri"/>
                <a:cs typeface="Calibri"/>
                <a:sym typeface="Calibri"/>
              </a:rPr>
              <a:t>sum of </a:t>
            </a:r>
            <a:r>
              <a:rPr lang="en-US" sz="1600" i="1" dirty="0" err="1">
                <a:solidFill>
                  <a:schemeClr val="tx1">
                    <a:lumMod val="75000"/>
                    <a:lumOff val="25000"/>
                  </a:schemeClr>
                </a:solidFill>
                <a:latin typeface="Calibri"/>
                <a:ea typeface="Calibri"/>
                <a:cs typeface="Calibri"/>
                <a:sym typeface="Calibri"/>
              </a:rPr>
              <a:t>Searches_got_quote</a:t>
            </a:r>
            <a:r>
              <a:rPr lang="en-US" sz="1600" i="1" dirty="0">
                <a:solidFill>
                  <a:schemeClr val="tx1">
                    <a:lumMod val="75000"/>
                    <a:lumOff val="25000"/>
                  </a:schemeClr>
                </a:solidFill>
                <a:latin typeface="Calibri"/>
                <a:ea typeface="Calibri"/>
                <a:cs typeface="Calibri"/>
                <a:sym typeface="Calibri"/>
              </a:rPr>
              <a:t> minus sum of </a:t>
            </a:r>
            <a:r>
              <a:rPr lang="en-US" sz="1600" i="1" dirty="0" err="1">
                <a:solidFill>
                  <a:schemeClr val="tx1">
                    <a:lumMod val="75000"/>
                    <a:lumOff val="25000"/>
                  </a:schemeClr>
                </a:solidFill>
                <a:latin typeface="Calibri"/>
                <a:ea typeface="Calibri"/>
                <a:cs typeface="Calibri"/>
                <a:sym typeface="Calibri"/>
              </a:rPr>
              <a:t>end_rides</a:t>
            </a:r>
            <a:endParaRPr lang="en-US" sz="1600" i="1" dirty="0">
              <a:solidFill>
                <a:schemeClr val="tx1">
                  <a:lumMod val="75000"/>
                  <a:lumOff val="25000"/>
                </a:schemeClr>
              </a:solidFill>
              <a:latin typeface="Calibri"/>
              <a:ea typeface="Calibri"/>
              <a:cs typeface="Calibri"/>
              <a:sym typeface="Calibri"/>
            </a:endParaRPr>
          </a:p>
          <a:p>
            <a:pPr marL="285750" indent="-285750" algn="just">
              <a:buClr>
                <a:srgbClr val="AB1842"/>
              </a:buClr>
              <a:buSzPts val="1360"/>
              <a:buFont typeface="Noto Sans Symbols"/>
              <a:buChar char="❑"/>
            </a:pPr>
            <a:r>
              <a:rPr lang="en-US" sz="1600" dirty="0">
                <a:solidFill>
                  <a:schemeClr val="tx1">
                    <a:lumMod val="75000"/>
                    <a:lumOff val="25000"/>
                  </a:schemeClr>
                </a:solidFill>
                <a:latin typeface="Calibri"/>
                <a:ea typeface="Calibri"/>
                <a:cs typeface="Calibri"/>
                <a:sym typeface="Calibri"/>
              </a:rPr>
              <a:t>For each </a:t>
            </a:r>
            <a:r>
              <a:rPr lang="en-US" sz="1600" dirty="0" err="1">
                <a:solidFill>
                  <a:schemeClr val="tx1">
                    <a:lumMod val="75000"/>
                    <a:lumOff val="25000"/>
                  </a:schemeClr>
                </a:solidFill>
                <a:latin typeface="Calibri"/>
                <a:ea typeface="Calibri"/>
                <a:cs typeface="Calibri"/>
                <a:sym typeface="Calibri"/>
              </a:rPr>
              <a:t>TripId</a:t>
            </a:r>
            <a:r>
              <a:rPr lang="en-US" sz="1600" dirty="0">
                <a:solidFill>
                  <a:schemeClr val="tx1">
                    <a:lumMod val="75000"/>
                    <a:lumOff val="25000"/>
                  </a:schemeClr>
                </a:solidFill>
                <a:latin typeface="Calibri"/>
                <a:ea typeface="Calibri"/>
                <a:cs typeface="Calibri"/>
                <a:sym typeface="Calibri"/>
              </a:rPr>
              <a:t>, distance covered by the driver is considered as optimized distance</a:t>
            </a:r>
          </a:p>
        </p:txBody>
      </p:sp>
      <p:sp>
        <p:nvSpPr>
          <p:cNvPr id="6" name="Google Shape;213;p21">
            <a:extLst>
              <a:ext uri="{FF2B5EF4-FFF2-40B4-BE49-F238E27FC236}">
                <a16:creationId xmlns:a16="http://schemas.microsoft.com/office/drawing/2014/main" id="{4A864594-ECE0-0645-0AA2-55FDAB5BEC92}"/>
              </a:ext>
            </a:extLst>
          </p:cNvPr>
          <p:cNvSpPr txBox="1"/>
          <p:nvPr/>
        </p:nvSpPr>
        <p:spPr>
          <a:xfrm>
            <a:off x="609601" y="4150266"/>
            <a:ext cx="222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AB1842"/>
                </a:solidFill>
                <a:latin typeface="Rockwell"/>
                <a:ea typeface="Rockwell"/>
                <a:cs typeface="Rockwell"/>
                <a:sym typeface="Rockwell"/>
              </a:rPr>
              <a:t>Data Assumptions</a:t>
            </a:r>
            <a:endParaRPr dirty="0"/>
          </a:p>
        </p:txBody>
      </p:sp>
      <p:cxnSp>
        <p:nvCxnSpPr>
          <p:cNvPr id="7" name="Google Shape;214;p21">
            <a:extLst>
              <a:ext uri="{FF2B5EF4-FFF2-40B4-BE49-F238E27FC236}">
                <a16:creationId xmlns:a16="http://schemas.microsoft.com/office/drawing/2014/main" id="{B48CBA21-44BE-112A-265B-8014BCC465B7}"/>
              </a:ext>
            </a:extLst>
          </p:cNvPr>
          <p:cNvCxnSpPr/>
          <p:nvPr/>
        </p:nvCxnSpPr>
        <p:spPr>
          <a:xfrm>
            <a:off x="686719" y="4519598"/>
            <a:ext cx="2214300" cy="0"/>
          </a:xfrm>
          <a:prstGeom prst="straightConnector1">
            <a:avLst/>
          </a:prstGeom>
          <a:noFill/>
          <a:ln w="19050"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519903347"/>
      </p:ext>
    </p:extLst>
  </p:cSld>
  <p:clrMapOvr>
    <a:masterClrMapping/>
  </p:clrMapOvr>
</p:sld>
</file>

<file path=ppt/theme/theme1.xml><?xml version="1.0" encoding="utf-8"?>
<a:theme xmlns:a="http://schemas.openxmlformats.org/drawingml/2006/main" name="Wood Type">
  <a:themeElements>
    <a:clrScheme name="Wood Type">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409</TotalTime>
  <Words>1052</Words>
  <Application>Microsoft Office PowerPoint</Application>
  <PresentationFormat>Widescreen</PresentationFormat>
  <Paragraphs>93</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Noto Sans Symbols</vt:lpstr>
      <vt:lpstr>Rockwell</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Rohit Vashishth</dc:creator>
  <cp:lastModifiedBy>Rakesh Kumar Sahoo</cp:lastModifiedBy>
  <cp:revision>14</cp:revision>
  <dcterms:modified xsi:type="dcterms:W3CDTF">2025-06-14T12:23:00Z</dcterms:modified>
</cp:coreProperties>
</file>